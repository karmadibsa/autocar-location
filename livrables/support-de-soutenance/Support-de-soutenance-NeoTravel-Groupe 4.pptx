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2" r:id="rId6"/>
    <p:sldId id="273" r:id="rId7"/>
    <p:sldId id="260" r:id="rId8"/>
    <p:sldId id="261" r:id="rId9"/>
    <p:sldId id="274" r:id="rId10"/>
    <p:sldId id="275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C63F"/>
    <a:srgbClr val="AEC8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828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30 s. Se présenter et annoncer le plan : objectifs du client → contexte → As-Is/To-Be → solution → architecture → choix techniques → prévu vs réalisé → démo live → ouverture et passation → questions. Annoncer la règle d’or dès l’ouverture.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Poser le cadre : voici ce que le client attendait AVANT qu’on écrive la première ligne (périmètre, irritants, KPIs du dossier de cadrage L1). On y reviendra pour prouver qu’on répond au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Insister : on veut mieux exploiter le flux existant et libérer les commerciaux pour les tâches à forte valeur (conseil, négociation).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Montrer que chaque étape manuelle (rouge) a sa contrepartie automatisée et supervisée (vert). C’est la promesse : automatiser sans déshumaniser. Graphique repris du dossier de cadrage (5.1).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6DF3E-D9A2-D44D-AAA4-C70B5769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4DDD3-4FC8-6533-9DBF-9A86A3C3C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53DB32-C955-C3FB-D084-39EA4BBB4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Montrer que chaque étape manuelle (rouge) a sa contrepartie automatisée et supervisée (vert). C’est la promesse : automatiser sans déshumaniser. Graphique repris du dossier de cadrage (5.1).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6AC21-DB92-E3B0-18A6-5E32345991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64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4DFA-E87F-CE2E-9FB4-AE466B49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2DEA6-849A-940F-5DC4-A611E37DC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817F1-5D48-19EA-C427-ED207607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Montrer que chaque étape manuelle (rouge) a sa contrepartie automatisée et supervisée (vert). C’est la promesse : automatiser sans déshumaniser. Graphique repris du dossier de cadrage (5.1).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7414C-F952-BBD1-5A64-906A2AC47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42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La règle d’or est le fil rouge de toute la soutenance. La solution automatise toute la chaîne sans déshumaniser : l’agent prépare, l’humain décide et engage. Le prix est calculé par le tool calculer_devis(), pas par le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 min. Schéma réel du dossier de cadrage (partie 9). Le front est le centre. Un seul appel LLM, réalisé avec Gemma 4 (le cadrage prévoyait gpt-4o-mini), le reste est déterministe.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F1DF-84FF-3927-2024-FDEC2F4B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B845C-0F35-0E62-D090-023F16ADC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11F9D-031D-120A-A162-BF1832722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 min. Schéma réel du dossier de cadrage (partie 9). Le front est le centre. Un seul appel LLM, réalisé avec Gemma 4 (le cadrage prévoyait gpt-4o-mini), le reste est déterministe.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CC8B7-2948-92A2-CC2E-9CBB3DAA7B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7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DB47-E3CB-2130-9345-1FBADAD83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9919B-0BAB-2410-D628-84825C11E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C5F5A-9399-143C-3D8F-59617EA6F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 min. Schéma réel du dossier de cadrage (partie 9). Le front est le centre. Un seul appel LLM, réalisé avec Gemma 4 (le cadrage prévoyait gpt-4o-mini), le reste est déterministe.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E7147-A613-7DBF-45D3-7B78FCB020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39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Vincent — 2 min. Défendre chaque décision par ses critères (coût, qualité, latence, sorties structurées, compatibilité stack) et assumer la limite observée. Renvoyer à l’Argumentaire des choix (L1).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Vincent — 1 min. Montrer rapidement npm test qui passe et /docs (Swagger) : toute l’API est documentée et explorable.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Vincent — 1,5 min. Assumer les écarts comme des décisions, pas des oublis. On a tenu le cap (chaîne complète) et certains arbitrages ont amélioré le résultat.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Boucler avec la slide Objectifs : chaque attente initiale a sa réponse concrète. C’est la preuve qu’on a traité le besoin du client, pas seulement construit une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Zakaria. Transition vers la démo live. Pré-requis : lancer lancer-n8n-tunnel.bat + reset-complet.sql. Filet de sécurité : un jeu de démo est déjà en base si le chat live échoue.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Zakaria — 3 min. Si Gemma renvoie un 503 ponctuel, renvoyer le message. Filet : devis de démo déjà en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Zakaria — 3,5 min. Différenciateur (bonus livré) : le prospect suit ses devis et son historique. Le dashboard prouve le pilotage par la donnée.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Vincent — 1,5 min. Assumer franchement : la cohérence du parcours prime sur la perfection d’un maillon. Le seul élément à changer pour la prod : héberger n8n. 4 scénarios chiffrés dans COUTS_ET_PROD.md.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Vincent — 1,5 min. Deux messages : (1) le projet a une suite claire (backlog priorisé), (2) il est déjà reprenable grâce à la doc de passation L3. Répond au critère « rendre la solution reprenable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B8EA-7862-87DF-F406-3AABD6FA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5DB25-C811-15A6-39E3-D6C1717F3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B0C20-954C-B973-2E69-06EC8286C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30 s. Se présenter et annoncer le plan : objectifs du client → contexte → As-Is/To-Be → solution → architecture → choix techniques → prévu vs réalisé → démo live → ouverture et passation → questions. Annoncer la règle d’or dès l’ouverture.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6EC78-E845-F14E-EB81-1F8599DD4E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7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572000" cy="4572000"/>
          </a:xfrm>
          <a:prstGeom prst="ellipse">
            <a:avLst/>
          </a:prstGeom>
          <a:solidFill>
            <a:srgbClr val="8CC63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6FA01E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199" y="219456"/>
            <a:ext cx="2244705" cy="1389888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20" y="363990"/>
            <a:ext cx="1842561" cy="10213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· AUTOMATISATION 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</a:t>
            </a:r>
            <a:r>
              <a:rPr lang="en-US" sz="5200" b="1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</a:t>
            </a:r>
            <a:r>
              <a:rPr lang="en-US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</a:t>
            </a:r>
            <a:r>
              <a:rPr lang="en-US" sz="18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cycle commercial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0" y="47091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 MOMPER   ·   Vincent CONTER   ·   Zakaria TOUAMI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3A3A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66928" y="6711696"/>
            <a:ext cx="650461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&amp; attentes initiales du client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6928" y="1691640"/>
            <a:ext cx="3533546" cy="4297680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04672" y="1911096"/>
            <a:ext cx="420624" cy="420624"/>
          </a:xfrm>
          <a:prstGeom prst="ellipse">
            <a:avLst/>
          </a:prstGeom>
          <a:solidFill>
            <a:srgbClr val="6FA0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04672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53312" y="1911096"/>
            <a:ext cx="2545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 — 10 fonctions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1248" y="2551176"/>
            <a:ext cx="298490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Capter le lead (chat / formulaire)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dans un CRM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 la demande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infos manquantes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un devis (déterministe)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la proposition (PDF)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le devis au client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automatiquement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 pipeline commercial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via un dashboard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29074" y="1691640"/>
            <a:ext cx="3533546" cy="4297680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66818" y="1911096"/>
            <a:ext cx="420624" cy="420624"/>
          </a:xfrm>
          <a:prstGeom prst="ellipse">
            <a:avLst/>
          </a:prstGeom>
          <a:solidFill>
            <a:srgbClr val="6FA0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566818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15458" y="1911096"/>
            <a:ext cx="2545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irritants à résoudre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603394" y="2551176"/>
            <a:ext cx="298490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payants jamais recontactés (manque à gagner)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Délais de réponse et devis trop lents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manuelles oubliées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manuelle, lente et faillible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sans visibilité sur l’activité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91221" y="1691640"/>
            <a:ext cx="3533546" cy="4297680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8328965" y="1911096"/>
            <a:ext cx="420624" cy="420624"/>
          </a:xfrm>
          <a:prstGeom prst="ellipse">
            <a:avLst/>
          </a:prstGeom>
          <a:solidFill>
            <a:srgbClr val="6FA0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8328965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877605" y="1911096"/>
            <a:ext cx="2545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KPIs visés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365541" y="2551176"/>
            <a:ext cx="298490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leads traités → 100 %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demande → devis :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minutes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relance oubliée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des demandes urgentes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IA par devis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maîtrisé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566928" y="6711696"/>
            <a:ext cx="1300922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E0AAEBB0-B31E-74B8-B927-37CFB913C45F}"/>
              </a:ext>
            </a:extLst>
          </p:cNvPr>
          <p:cNvSpPr/>
          <p:nvPr/>
        </p:nvSpPr>
        <p:spPr>
          <a:xfrm>
            <a:off x="11228832" y="42062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6D6AEDD8-D965-3832-EFC7-11C43BEDC88F}"/>
              </a:ext>
            </a:extLst>
          </p:cNvPr>
          <p:cNvSpPr/>
          <p:nvPr/>
        </p:nvSpPr>
        <p:spPr>
          <a:xfrm>
            <a:off x="11448288" y="42062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8EA6DDAF-9060-72F6-7B7C-C0384452B548}"/>
              </a:ext>
            </a:extLst>
          </p:cNvPr>
          <p:cNvSpPr/>
          <p:nvPr/>
        </p:nvSpPr>
        <p:spPr>
          <a:xfrm>
            <a:off x="11228832" y="64008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0FE7F305-4006-2FD0-FF2C-EA67C60E2E4E}"/>
              </a:ext>
            </a:extLst>
          </p:cNvPr>
          <p:cNvSpPr/>
          <p:nvPr/>
        </p:nvSpPr>
        <p:spPr>
          <a:xfrm>
            <a:off x="11448288" y="64008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0" descr="C:\Users\vcont\Desktop\Autocar-Location-master\livrables\assets\logo-neotravel.png">
            <a:extLst>
              <a:ext uri="{FF2B5EF4-FFF2-40B4-BE49-F238E27FC236}">
                <a16:creationId xmlns:a16="http://schemas.microsoft.com/office/drawing/2014/main" id="{076350B9-6356-0930-3347-614364AC2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29" name="Shape 4">
            <a:extLst>
              <a:ext uri="{FF2B5EF4-FFF2-40B4-BE49-F238E27FC236}">
                <a16:creationId xmlns:a16="http://schemas.microsoft.com/office/drawing/2014/main" id="{31F78CE6-9C5A-D14E-806E-56A0E5984759}"/>
              </a:ext>
            </a:extLst>
          </p:cNvPr>
          <p:cNvSpPr/>
          <p:nvPr/>
        </p:nvSpPr>
        <p:spPr>
          <a:xfrm>
            <a:off x="3743858" y="568756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80BBC590-EA1D-C510-145A-0E23991B833A}"/>
              </a:ext>
            </a:extLst>
          </p:cNvPr>
          <p:cNvSpPr/>
          <p:nvPr/>
        </p:nvSpPr>
        <p:spPr>
          <a:xfrm>
            <a:off x="7547152" y="568756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19E58477-9503-D590-1988-239933633AEA}"/>
              </a:ext>
            </a:extLst>
          </p:cNvPr>
          <p:cNvSpPr/>
          <p:nvPr/>
        </p:nvSpPr>
        <p:spPr>
          <a:xfrm>
            <a:off x="11292840" y="568756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9" y="402336"/>
            <a:ext cx="10553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NEOTRAVEL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: l’exploitation, pas l’acquisition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6928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E7EBDE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66928" y="2350484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566928" y="348175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jour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6968" y="404563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L’acquisition n’est pas le problème — le flux existant est sous-exploité, faute de capacité de traitement.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98848" y="1737360"/>
            <a:ext cx="7125919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754880" y="1956816"/>
            <a:ext cx="6613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1 — des leads perdus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773168" y="2468880"/>
            <a:ext cx="6577279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Commerciaux commissionnés → priorité aux gros leads.</a:t>
            </a:r>
            <a:endParaRPr lang="en-US" sz="14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leads payants (Ads) ne sont jamais recontactés = manque à gagner direct.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98848" y="3886200"/>
            <a:ext cx="7125919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754880" y="4105656"/>
            <a:ext cx="6613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2 — acquisition bridée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773168" y="4617720"/>
            <a:ext cx="6577279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de leads = plus de charge, pas plus de CA.</a:t>
            </a:r>
            <a:endParaRPr lang="en-US" sz="14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S’ajoutent : tarif manuel lent, relances oubliées, direction sans visibilité.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566928" y="6711696"/>
            <a:ext cx="1951383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B781A1F8-FC51-2F5F-165A-32C3733D9FC2}"/>
              </a:ext>
            </a:extLst>
          </p:cNvPr>
          <p:cNvSpPr/>
          <p:nvPr/>
        </p:nvSpPr>
        <p:spPr>
          <a:xfrm>
            <a:off x="11249863" y="35204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4E40DEB6-EC31-B1A9-C425-295607E42491}"/>
              </a:ext>
            </a:extLst>
          </p:cNvPr>
          <p:cNvSpPr/>
          <p:nvPr/>
        </p:nvSpPr>
        <p:spPr>
          <a:xfrm>
            <a:off x="11469319" y="35204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890CE79E-51FF-CDEA-389B-AC1D8DE5924B}"/>
              </a:ext>
            </a:extLst>
          </p:cNvPr>
          <p:cNvSpPr/>
          <p:nvPr/>
        </p:nvSpPr>
        <p:spPr>
          <a:xfrm>
            <a:off x="11249863" y="57150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AC6662C3-FADF-9D8B-81F9-B5DA853D4C60}"/>
              </a:ext>
            </a:extLst>
          </p:cNvPr>
          <p:cNvSpPr/>
          <p:nvPr/>
        </p:nvSpPr>
        <p:spPr>
          <a:xfrm>
            <a:off x="11469319" y="57150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87D3A143-0C72-17EC-546D-739581FB4ABA}"/>
              </a:ext>
            </a:extLst>
          </p:cNvPr>
          <p:cNvSpPr/>
          <p:nvPr/>
        </p:nvSpPr>
        <p:spPr>
          <a:xfrm>
            <a:off x="11123756" y="2002536"/>
            <a:ext cx="285374" cy="274320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C1455503-BC5A-B8F1-124F-49D947E164CB}"/>
              </a:ext>
            </a:extLst>
          </p:cNvPr>
          <p:cNvSpPr/>
          <p:nvPr/>
        </p:nvSpPr>
        <p:spPr>
          <a:xfrm>
            <a:off x="11120744" y="4151736"/>
            <a:ext cx="284567" cy="273600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02336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MANUEL À L’AUTOMATISÉ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931184"/>
            <a:ext cx="4368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As-Is / To-Be</a:t>
            </a:r>
            <a:endParaRPr lang="en-US" sz="2600" dirty="0"/>
          </a:p>
        </p:txBody>
      </p:sp>
      <p:pic>
        <p:nvPicPr>
          <p:cNvPr id="5" name="Image 1" descr="C:\Users\vcont\Desktop\Autocar-Location-master\livrables\support-de-soutenance\assets\as-is-to-be.png"/>
          <p:cNvPicPr>
            <a:picLocks noChangeAspect="1"/>
          </p:cNvPicPr>
          <p:nvPr/>
        </p:nvPicPr>
        <p:blipFill>
          <a:blip r:embed="rId4"/>
          <a:srcRect t="4624"/>
          <a:stretch>
            <a:fillRect/>
          </a:stretch>
        </p:blipFill>
        <p:spPr>
          <a:xfrm>
            <a:off x="5670148" y="950976"/>
            <a:ext cx="5595203" cy="55046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 3"/>
          <p:cNvSpPr/>
          <p:nvPr/>
        </p:nvSpPr>
        <p:spPr>
          <a:xfrm>
            <a:off x="363296" y="2024204"/>
            <a:ext cx="5134827" cy="3335684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177800" indent="-177800" algn="just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gauche, le processus actuel — manuel, lent et faillible (en rouge)</a:t>
            </a:r>
            <a:endParaRPr lang="en-US" sz="1400" dirty="0"/>
          </a:p>
          <a:p>
            <a:pPr marL="177800" indent="-177800" algn="just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droite, le processus cible — automatisé ET supervisé (en vert)</a:t>
            </a:r>
            <a:endParaRPr lang="en-US" sz="1400" dirty="0"/>
          </a:p>
          <a:p>
            <a:pPr marL="177800" indent="-177800" algn="just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étape sensible, un humain garde la main (HITL)</a:t>
            </a:r>
            <a:endParaRPr lang="en-US" sz="1400" dirty="0"/>
          </a:p>
          <a:p>
            <a:pPr marL="177800" indent="-177800" algn="just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 du prix passe par le tool déterministe, jamais par le LLM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566928" y="6711696"/>
            <a:ext cx="2601845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7946936E-A2CF-7853-4CD0-B674E2C5C970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070F8316-7EDA-95D4-16BD-B6721C1B3B13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01D5071-D710-B5FC-FA81-C5E36BCAE7C7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1641A5A1-1612-D608-A9ED-D6230691C1BB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97678-A6F6-3E75-264E-5A691309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>
            <a:extLst>
              <a:ext uri="{FF2B5EF4-FFF2-40B4-BE49-F238E27FC236}">
                <a16:creationId xmlns:a16="http://schemas.microsoft.com/office/drawing/2014/main" id="{7BBE9E74-2587-2DB7-D170-781C7A75D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9FA01AD-89F3-09F4-167A-DB5F5C1A510C}"/>
              </a:ext>
            </a:extLst>
          </p:cNvPr>
          <p:cNvSpPr/>
          <p:nvPr/>
        </p:nvSpPr>
        <p:spPr>
          <a:xfrm>
            <a:off x="566928" y="402336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MANUEL À L’AUTOMATISÉ</a:t>
            </a:r>
            <a:endParaRPr lang="en-US" sz="11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BB30388-73E7-52C6-0C28-5BECB5E9C35D}"/>
              </a:ext>
            </a:extLst>
          </p:cNvPr>
          <p:cNvSpPr/>
          <p:nvPr/>
        </p:nvSpPr>
        <p:spPr>
          <a:xfrm>
            <a:off x="566928" y="931184"/>
            <a:ext cx="4368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As-Is / To-Be</a:t>
            </a:r>
            <a:endParaRPr lang="en-US" sz="2600" dirty="0"/>
          </a:p>
        </p:txBody>
      </p:sp>
      <p:pic>
        <p:nvPicPr>
          <p:cNvPr id="5" name="Image 1" descr="C:\Users\vcont\Desktop\Autocar-Location-master\livrables\support-de-soutenance\assets\as-is-to-be.png">
            <a:extLst>
              <a:ext uri="{FF2B5EF4-FFF2-40B4-BE49-F238E27FC236}">
                <a16:creationId xmlns:a16="http://schemas.microsoft.com/office/drawing/2014/main" id="{F7BC2FFF-A44B-2F8F-1586-D2A3646CEF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24"/>
          <a:stretch>
            <a:fillRect/>
          </a:stretch>
        </p:blipFill>
        <p:spPr>
          <a:xfrm>
            <a:off x="1313852" y="1611526"/>
            <a:ext cx="9563990" cy="94092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CB77513E-18B5-3DE3-4B5B-B679CF0A23E8}"/>
              </a:ext>
            </a:extLst>
          </p:cNvPr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D77E8E6-EDF5-72B6-9E6F-1C127E463EDD}"/>
              </a:ext>
            </a:extLst>
          </p:cNvPr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FC54101-D3D6-BF53-6A90-C7F5A4EB6BBE}"/>
              </a:ext>
            </a:extLst>
          </p:cNvPr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E1C9CB9-C094-533C-19D2-EED467D5C7E4}"/>
              </a:ext>
            </a:extLst>
          </p:cNvPr>
          <p:cNvSpPr/>
          <p:nvPr/>
        </p:nvSpPr>
        <p:spPr>
          <a:xfrm>
            <a:off x="566928" y="6711696"/>
            <a:ext cx="2601845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0FB98375-6354-F34E-89EB-03D8D3FA2CF8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EDEA582A-A35D-3AB7-F244-50241F85B174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593265BB-216C-3869-CD97-B3F4613DBFBB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E1A3BAFA-8901-E0C9-9F73-D60748E28BCA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878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BBFF6-F880-DC5C-EA10-83099C06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>
            <a:extLst>
              <a:ext uri="{FF2B5EF4-FFF2-40B4-BE49-F238E27FC236}">
                <a16:creationId xmlns:a16="http://schemas.microsoft.com/office/drawing/2014/main" id="{BE47DCDD-BB68-2F77-F1A3-7858F4F90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0F6C24D-4143-91BA-8E22-793DB9B646DB}"/>
              </a:ext>
            </a:extLst>
          </p:cNvPr>
          <p:cNvSpPr/>
          <p:nvPr/>
        </p:nvSpPr>
        <p:spPr>
          <a:xfrm>
            <a:off x="566928" y="402336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MANUEL À L’AUTOMATISÉ</a:t>
            </a:r>
            <a:endParaRPr lang="en-US" sz="11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57A9634-56AD-635E-93DD-E1E006A02802}"/>
              </a:ext>
            </a:extLst>
          </p:cNvPr>
          <p:cNvSpPr/>
          <p:nvPr/>
        </p:nvSpPr>
        <p:spPr>
          <a:xfrm>
            <a:off x="566928" y="931184"/>
            <a:ext cx="4368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As-Is / To-Be</a:t>
            </a:r>
            <a:endParaRPr lang="en-US" sz="2600" dirty="0"/>
          </a:p>
        </p:txBody>
      </p:sp>
      <p:pic>
        <p:nvPicPr>
          <p:cNvPr id="5" name="Image 1" descr="C:\Users\vcont\Desktop\Autocar-Location-master\livrables\support-de-soutenance\assets\as-is-to-be.png">
            <a:extLst>
              <a:ext uri="{FF2B5EF4-FFF2-40B4-BE49-F238E27FC236}">
                <a16:creationId xmlns:a16="http://schemas.microsoft.com/office/drawing/2014/main" id="{9765F71E-BAAB-1F0E-4968-A35C53636B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24"/>
          <a:stretch>
            <a:fillRect/>
          </a:stretch>
        </p:blipFill>
        <p:spPr>
          <a:xfrm>
            <a:off x="1512137" y="-2981041"/>
            <a:ext cx="9563990" cy="94092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40D28014-78DE-C28E-3B05-E7D96EF30F44}"/>
              </a:ext>
            </a:extLst>
          </p:cNvPr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782CDA0-E690-20E9-CA09-52280D2C5C52}"/>
              </a:ext>
            </a:extLst>
          </p:cNvPr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B29C180-539E-80D5-90B8-A3A33D5CEB7D}"/>
              </a:ext>
            </a:extLst>
          </p:cNvPr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F2304E6-34CA-801C-80FC-C5CF2A6AFDEF}"/>
              </a:ext>
            </a:extLst>
          </p:cNvPr>
          <p:cNvSpPr/>
          <p:nvPr/>
        </p:nvSpPr>
        <p:spPr>
          <a:xfrm>
            <a:off x="566928" y="6711696"/>
            <a:ext cx="2601845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F3F8F81C-A7F7-BA6C-8228-5BEDFFBD1934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4B053729-9B9D-377D-1071-BA72817C065B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622630BF-23D4-6312-A032-0E08EE6BFE4B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8199BD6D-6FCC-3088-719B-8ABF05B72819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7940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02336"/>
            <a:ext cx="105465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RÉPONSE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un copilote, et une règle d’or</a:t>
            </a:r>
            <a:endParaRPr lang="en-US" sz="2600" dirty="0"/>
          </a:p>
        </p:txBody>
      </p:sp>
      <p:sp>
        <p:nvSpPr>
          <p:cNvPr id="29" name="Shape 26"/>
          <p:cNvSpPr/>
          <p:nvPr/>
        </p:nvSpPr>
        <p:spPr>
          <a:xfrm>
            <a:off x="694654" y="5267146"/>
            <a:ext cx="10555209" cy="1049920"/>
          </a:xfrm>
          <a:prstGeom prst="roundRect">
            <a:avLst>
              <a:gd name="adj" fmla="val 4211"/>
            </a:avLst>
          </a:prstGeom>
          <a:solidFill>
            <a:srgbClr val="1C1C1E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912955" y="5201497"/>
            <a:ext cx="10253737" cy="446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La règle d’or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12955" y="5658697"/>
            <a:ext cx="10253737" cy="59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comprend et oriente, mais le prix vient TOUJOURS du code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jamais du modèle de langage. Reproductible, auditable, zéro hallucination tarifaire. L’humain garde la main sur les cas sensibles.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566928" y="6711696"/>
            <a:ext cx="3252306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52EB088C-BB48-694B-7B4F-73AEAF66046D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4F2DC762-7205-573E-46A2-B8A919704359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2A5C671D-25BC-00D1-E1D2-DF0F8093D938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5A063379-F599-E4EA-F941-C9654F625A09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0B97B435-1106-BA73-CB6E-F4DB31E9F6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0" b="10412"/>
          <a:stretch>
            <a:fillRect/>
          </a:stretch>
        </p:blipFill>
        <p:spPr>
          <a:xfrm>
            <a:off x="1879096" y="1682496"/>
            <a:ext cx="7922211" cy="327817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1" name="Shape 2">
            <a:extLst>
              <a:ext uri="{FF2B5EF4-FFF2-40B4-BE49-F238E27FC236}">
                <a16:creationId xmlns:a16="http://schemas.microsoft.com/office/drawing/2014/main" id="{B47BA8F7-6FB6-6106-D2B0-FDD10F090CC2}"/>
              </a:ext>
            </a:extLst>
          </p:cNvPr>
          <p:cNvSpPr/>
          <p:nvPr/>
        </p:nvSpPr>
        <p:spPr>
          <a:xfrm>
            <a:off x="858239" y="534323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908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21348"/>
            <a:ext cx="10540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en-US" sz="2600" dirty="0"/>
          </a:p>
        </p:txBody>
      </p:sp>
      <p:pic>
        <p:nvPicPr>
          <p:cNvPr id="5" name="Image 1" descr="C:\Users\vcont\Desktop\Autocar-Location-master\livrables\support-de-soutenance\assets\architecture-cible.png"/>
          <p:cNvPicPr>
            <a:picLocks noChangeAspect="1"/>
          </p:cNvPicPr>
          <p:nvPr/>
        </p:nvPicPr>
        <p:blipFill>
          <a:blip r:embed="rId4"/>
          <a:srcRect t="1133" b="2511"/>
          <a:stretch>
            <a:fillRect/>
          </a:stretch>
        </p:blipFill>
        <p:spPr>
          <a:xfrm>
            <a:off x="6328820" y="703385"/>
            <a:ext cx="4720180" cy="5849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 3"/>
          <p:cNvSpPr/>
          <p:nvPr/>
        </p:nvSpPr>
        <p:spPr>
          <a:xfrm>
            <a:off x="566928" y="1863484"/>
            <a:ext cx="5186125" cy="36826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t"/>
          <a:lstStyle/>
          <a:p>
            <a:pPr marL="177800" indent="-177800" algn="just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 Next.js orchestre tout : interface + routes /api (logique métier)</a:t>
            </a:r>
          </a:p>
          <a:p>
            <a:pPr marL="177800" indent="-177800" algn="just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appel LLM, réalisé avec Gemma 4, pour l’extraction des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400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just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vient de calculer_devis()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jamais le LLM</a:t>
            </a:r>
          </a:p>
          <a:p>
            <a:pPr marL="177800" indent="-177800" algn="just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: PostgreSQL + Authentification + sécurité par ligne. Relances via Resend</a:t>
            </a:r>
          </a:p>
        </p:txBody>
      </p:sp>
      <p:sp>
        <p:nvSpPr>
          <p:cNvPr id="9" name="Text 5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566928" y="6711696"/>
            <a:ext cx="3902767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445B5F79-C5FC-3D17-F05E-C638277C6C51}"/>
              </a:ext>
            </a:extLst>
          </p:cNvPr>
          <p:cNvSpPr/>
          <p:nvPr/>
        </p:nvSpPr>
        <p:spPr>
          <a:xfrm>
            <a:off x="11249863" y="19132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49B30A56-11D7-09BE-EE5B-C5B73AE228F7}"/>
              </a:ext>
            </a:extLst>
          </p:cNvPr>
          <p:cNvSpPr/>
          <p:nvPr/>
        </p:nvSpPr>
        <p:spPr>
          <a:xfrm>
            <a:off x="11469319" y="19132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9FD7B27A-A83D-0084-6D86-0980D3D31AE9}"/>
              </a:ext>
            </a:extLst>
          </p:cNvPr>
          <p:cNvSpPr/>
          <p:nvPr/>
        </p:nvSpPr>
        <p:spPr>
          <a:xfrm>
            <a:off x="11249863" y="410777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11CB80B3-31C0-0E9B-ED13-120E49180B9F}"/>
              </a:ext>
            </a:extLst>
          </p:cNvPr>
          <p:cNvSpPr/>
          <p:nvPr/>
        </p:nvSpPr>
        <p:spPr>
          <a:xfrm>
            <a:off x="11469319" y="410777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C410-7604-F934-3ED3-BAA6DE12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>
            <a:extLst>
              <a:ext uri="{FF2B5EF4-FFF2-40B4-BE49-F238E27FC236}">
                <a16:creationId xmlns:a16="http://schemas.microsoft.com/office/drawing/2014/main" id="{62234A56-E9C5-1FBB-6DE5-28E673987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908"/>
            <a:ext cx="914400" cy="5068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D02D518-1AFA-4B74-AFA4-4EBE3B3661FE}"/>
              </a:ext>
            </a:extLst>
          </p:cNvPr>
          <p:cNvSpPr/>
          <p:nvPr/>
        </p:nvSpPr>
        <p:spPr>
          <a:xfrm>
            <a:off x="566928" y="221348"/>
            <a:ext cx="10540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1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EEC6DAA-F0C7-5A08-3FAA-32ECD6914640}"/>
              </a:ext>
            </a:extLst>
          </p:cNvPr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en-US" sz="2600" dirty="0"/>
          </a:p>
        </p:txBody>
      </p:sp>
      <p:pic>
        <p:nvPicPr>
          <p:cNvPr id="5" name="Image 1" descr="C:\Users\vcont\Desktop\Autocar-Location-master\livrables\support-de-soutenance\assets\architecture-cible.png">
            <a:extLst>
              <a:ext uri="{FF2B5EF4-FFF2-40B4-BE49-F238E27FC236}">
                <a16:creationId xmlns:a16="http://schemas.microsoft.com/office/drawing/2014/main" id="{1A386AB2-E7BF-A066-25CC-0D03658D14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33" b="2511"/>
          <a:stretch>
            <a:fillRect/>
          </a:stretch>
        </p:blipFill>
        <p:spPr>
          <a:xfrm>
            <a:off x="1890529" y="1463040"/>
            <a:ext cx="8185456" cy="10144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11C62933-9FF0-998B-8B71-1687BF52A419}"/>
              </a:ext>
            </a:extLst>
          </p:cNvPr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24A56BE-7790-0E8D-5435-6343F1448F8B}"/>
              </a:ext>
            </a:extLst>
          </p:cNvPr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3AED8D5-3246-04E3-B392-13D7015F4E6A}"/>
              </a:ext>
            </a:extLst>
          </p:cNvPr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C54B7AB-F44B-B48E-8596-7A5A3F0B241C}"/>
              </a:ext>
            </a:extLst>
          </p:cNvPr>
          <p:cNvSpPr/>
          <p:nvPr/>
        </p:nvSpPr>
        <p:spPr>
          <a:xfrm>
            <a:off x="566928" y="6711696"/>
            <a:ext cx="3902767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43009C4D-197B-5F4E-6793-BB12DA22EBC7}"/>
              </a:ext>
            </a:extLst>
          </p:cNvPr>
          <p:cNvSpPr/>
          <p:nvPr/>
        </p:nvSpPr>
        <p:spPr>
          <a:xfrm>
            <a:off x="11249863" y="19132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034387CC-494C-4353-B176-27E91FB29AB9}"/>
              </a:ext>
            </a:extLst>
          </p:cNvPr>
          <p:cNvSpPr/>
          <p:nvPr/>
        </p:nvSpPr>
        <p:spPr>
          <a:xfrm>
            <a:off x="11469319" y="19132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1801B864-ECC5-2222-5C2F-5024B5CC1DD9}"/>
              </a:ext>
            </a:extLst>
          </p:cNvPr>
          <p:cNvSpPr/>
          <p:nvPr/>
        </p:nvSpPr>
        <p:spPr>
          <a:xfrm>
            <a:off x="11249863" y="410777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0F3F8E71-6432-C8F0-63D0-0ABED1E79D0E}"/>
              </a:ext>
            </a:extLst>
          </p:cNvPr>
          <p:cNvSpPr/>
          <p:nvPr/>
        </p:nvSpPr>
        <p:spPr>
          <a:xfrm>
            <a:off x="11469319" y="410777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706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C4A1A-F741-C364-446F-7BA1DE40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>
            <a:extLst>
              <a:ext uri="{FF2B5EF4-FFF2-40B4-BE49-F238E27FC236}">
                <a16:creationId xmlns:a16="http://schemas.microsoft.com/office/drawing/2014/main" id="{374F20D3-D1EA-AD66-514F-F5CE2123B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908"/>
            <a:ext cx="914400" cy="5068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51DA337-CD91-2ED6-6F44-254C6E886927}"/>
              </a:ext>
            </a:extLst>
          </p:cNvPr>
          <p:cNvSpPr/>
          <p:nvPr/>
        </p:nvSpPr>
        <p:spPr>
          <a:xfrm>
            <a:off x="566928" y="221348"/>
            <a:ext cx="10540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1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4B6165C-706C-E820-91A0-E1F22B15EEE0}"/>
              </a:ext>
            </a:extLst>
          </p:cNvPr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en-US" sz="2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7DF81BE-2A47-ABB1-3BEA-2D697866C6D9}"/>
              </a:ext>
            </a:extLst>
          </p:cNvPr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90B315E-D74F-4A5D-1177-E0D4F767ADEF}"/>
              </a:ext>
            </a:extLst>
          </p:cNvPr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8997100-D9DB-6305-845C-F024DD04560A}"/>
              </a:ext>
            </a:extLst>
          </p:cNvPr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97E1E32-511C-2226-FEF7-F9627B4F2C42}"/>
              </a:ext>
            </a:extLst>
          </p:cNvPr>
          <p:cNvSpPr/>
          <p:nvPr/>
        </p:nvSpPr>
        <p:spPr>
          <a:xfrm>
            <a:off x="566928" y="6711696"/>
            <a:ext cx="3902767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11FB9369-7B6A-3854-8752-334E80440F07}"/>
              </a:ext>
            </a:extLst>
          </p:cNvPr>
          <p:cNvSpPr/>
          <p:nvPr/>
        </p:nvSpPr>
        <p:spPr>
          <a:xfrm>
            <a:off x="11249863" y="19132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D2E9C6F-1015-62A3-65BC-216821802FD8}"/>
              </a:ext>
            </a:extLst>
          </p:cNvPr>
          <p:cNvSpPr/>
          <p:nvPr/>
        </p:nvSpPr>
        <p:spPr>
          <a:xfrm>
            <a:off x="11469319" y="19132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59A78663-C8EC-70FF-4C59-775E169B700D}"/>
              </a:ext>
            </a:extLst>
          </p:cNvPr>
          <p:cNvSpPr/>
          <p:nvPr/>
        </p:nvSpPr>
        <p:spPr>
          <a:xfrm>
            <a:off x="11249863" y="410777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01437252-1285-4834-0208-62A0AA4E1B7F}"/>
              </a:ext>
            </a:extLst>
          </p:cNvPr>
          <p:cNvSpPr/>
          <p:nvPr/>
        </p:nvSpPr>
        <p:spPr>
          <a:xfrm>
            <a:off x="11469319" y="410777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C:\Users\vcont\Desktop\Autocar-Location-master\livrables\support-de-soutenance\assets\architecture-cible.png">
            <a:extLst>
              <a:ext uri="{FF2B5EF4-FFF2-40B4-BE49-F238E27FC236}">
                <a16:creationId xmlns:a16="http://schemas.microsoft.com/office/drawing/2014/main" id="{E02F9823-C65C-CE80-4D41-3EDEF883F0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33" b="2511"/>
          <a:stretch>
            <a:fillRect/>
          </a:stretch>
        </p:blipFill>
        <p:spPr>
          <a:xfrm>
            <a:off x="1702223" y="-3892535"/>
            <a:ext cx="8185456" cy="10144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95070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9" y="402336"/>
            <a:ext cx="10528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DES CHOIX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: pas seulement quoi, mais pourquoi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6928" y="1756804"/>
            <a:ext cx="5391760" cy="1417320"/>
          </a:xfrm>
          <a:prstGeom prst="roundRect">
            <a:avLst>
              <a:gd name="adj" fmla="val 5161"/>
            </a:avLst>
          </a:prstGeom>
          <a:solidFill>
            <a:srgbClr val="E7EBDE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22960" y="2012836"/>
            <a:ext cx="128016" cy="128016"/>
          </a:xfrm>
          <a:prstGeom prst="ellipse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1042416" y="1921396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42416" y="2177428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9536" y="2579764"/>
            <a:ext cx="48065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visuelle et rapide, relances intégrées, courbe d’apprentissage douce.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33008" y="1756804"/>
            <a:ext cx="539176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489040" y="2012836"/>
            <a:ext cx="128016" cy="128016"/>
          </a:xfrm>
          <a:prstGeom prst="ellipse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708496" y="1921396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08496" y="2177428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25616" y="2579764"/>
            <a:ext cx="48065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(quota AI Studio), sorties JSON structurées fiables, latence basse, rôle d’assistance seul.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3448444"/>
            <a:ext cx="5391760" cy="1417320"/>
          </a:xfrm>
          <a:prstGeom prst="roundRect">
            <a:avLst>
              <a:gd name="adj" fmla="val 5161"/>
            </a:avLst>
          </a:prstGeom>
          <a:solidFill>
            <a:srgbClr val="E7EBDE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822960" y="3704476"/>
            <a:ext cx="128016" cy="128016"/>
          </a:xfrm>
          <a:prstGeom prst="ellipse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1042416" y="3613036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AUTHENTIFICATION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42416" y="3869068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59536" y="4271404"/>
            <a:ext cx="48065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Base, Authentification et sécurité par ligne dans une seule stack, dashboard sur-mesure sans surcoût.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33008" y="3448444"/>
            <a:ext cx="539176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6489040" y="3704476"/>
            <a:ext cx="128016" cy="128016"/>
          </a:xfrm>
          <a:prstGeom prst="ellipse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708496" y="3613036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LLM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08496" y="3869068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(extraction)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525616" y="4271404"/>
            <a:ext cx="48065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Tient dans le timeout 30 s, moins d’erreurs 503, aucune fuite de raisonnement vers le client.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5140084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C1C1E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932688" y="5140084"/>
            <a:ext cx="103263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observée —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(mise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place de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mitigation), credit IA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épuisé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relances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double (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d’idempotence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/>
          </a:p>
        </p:txBody>
      </p:sp>
      <p:sp>
        <p:nvSpPr>
          <p:cNvPr id="27" name="Text 24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566928" y="6711696"/>
            <a:ext cx="4553228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A74813C6-4D5B-9C9D-8602-C32736220BF3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BFB25B22-E69E-09B1-69AA-6493B37E3C66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56669767-0EB4-E1B9-1273-E4383D679B85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AE361B77-38C4-D49F-316E-4C70D7C188C0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02336"/>
            <a:ext cx="1049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SÛR, JUSTE ET AUDITABLE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&amp; garde-fous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6928" y="1691640"/>
            <a:ext cx="534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22960" y="1911096"/>
            <a:ext cx="483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déterministe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" y="2423160"/>
            <a:ext cx="4797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calculer_devis() testé, jamais le LLM</a:t>
            </a:r>
            <a:endParaRPr lang="en-US" sz="1600" dirty="0"/>
          </a:p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1ᵉʳ prix figé (distance estimée).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691640"/>
            <a:ext cx="534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534760" y="1911096"/>
            <a:ext cx="483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: types ET limites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53048" y="2423160"/>
            <a:ext cx="4797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passager, date incohérente, gros volume,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1600" dirty="0"/>
          </a:p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85 passagers → escalade, pas de prix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6928" y="4069080"/>
            <a:ext cx="534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22960" y="4288536"/>
            <a:ext cx="483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1248" y="4800600"/>
            <a:ext cx="4797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Minimisation, données fictives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minimales</a:t>
            </a:r>
            <a:endParaRPr lang="en-US" sz="1600" dirty="0"/>
          </a:p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de démo = aucun envoi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78728" y="4069080"/>
            <a:ext cx="534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534760" y="4288536"/>
            <a:ext cx="483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&amp; HITL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53048" y="4800600"/>
            <a:ext cx="4797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ne négocie jamais le prix</a:t>
            </a:r>
            <a:endParaRPr lang="en-US" sz="1600" dirty="0"/>
          </a:p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cas hors cadre escaladé à un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566928" y="6711696"/>
            <a:ext cx="5203689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D439760A-346B-6371-709E-7E2CD7DF14C0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A7D94FB5-37F0-C557-7AC2-343EB9C10B10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1B2391CC-3114-6D81-9591-69F9CFCA3F10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2F5E47C7-D54F-32FD-6F41-19539441C71C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900D4553-0843-DF90-1421-225ADFA42185}"/>
              </a:ext>
            </a:extLst>
          </p:cNvPr>
          <p:cNvSpPr/>
          <p:nvPr/>
        </p:nvSpPr>
        <p:spPr>
          <a:xfrm>
            <a:off x="5353274" y="1911096"/>
            <a:ext cx="285374" cy="274320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8921360B-BB43-1169-6CA3-60EADAEBF144}"/>
              </a:ext>
            </a:extLst>
          </p:cNvPr>
          <p:cNvSpPr/>
          <p:nvPr/>
        </p:nvSpPr>
        <p:spPr>
          <a:xfrm>
            <a:off x="11083362" y="4315968"/>
            <a:ext cx="285374" cy="274320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DB23CA6F-C4D1-182C-C20D-118DE77B950E}"/>
              </a:ext>
            </a:extLst>
          </p:cNvPr>
          <p:cNvSpPr/>
          <p:nvPr/>
        </p:nvSpPr>
        <p:spPr>
          <a:xfrm>
            <a:off x="11087850" y="1865736"/>
            <a:ext cx="284567" cy="273600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26518797-7CCB-BA52-ACA2-466A28AB2485}"/>
              </a:ext>
            </a:extLst>
          </p:cNvPr>
          <p:cNvSpPr/>
          <p:nvPr/>
        </p:nvSpPr>
        <p:spPr>
          <a:xfrm>
            <a:off x="5353274" y="4288536"/>
            <a:ext cx="284567" cy="273600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02336"/>
            <a:ext cx="104996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</a:t>
            </a: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2600" b="1" dirty="0" err="1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6928" y="1691640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41248" y="16916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gpt-4o-mini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630168" y="16916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C63F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78808" y="1691640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(gratuit)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287768" y="1691640"/>
            <a:ext cx="410839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AI Studio, sorties JSON suffisantes.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2569464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841248" y="256946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estimée plus tard (P2)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630168" y="2569464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C63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178808" y="2569464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estimée dès le MVP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287768" y="2569464"/>
            <a:ext cx="410839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gratuit sans clé, devis juste tout de suite.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3447288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841248" y="344728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hébergé (cloud)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630168" y="344728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C63F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178808" y="344728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local à URL fixe (0 €)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287768" y="3447288"/>
            <a:ext cx="410839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gratuit suffisant, voie de prod documentée.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4325112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841248" y="432511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client = bonus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630168" y="432511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C63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178808" y="4325112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 (devis, conversations, messagerie)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87768" y="4325112"/>
            <a:ext cx="410839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valeur client, simple dans Supabase.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6928" y="5202936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841248" y="520293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simple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630168" y="520293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C63F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178808" y="5202936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riche (courbe, camembert, export)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287768" y="5202936"/>
            <a:ext cx="410839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</a:t>
            </a: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mise </a:t>
            </a:r>
            <a:r>
              <a:rPr lang="en-US" sz="1100" i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place d’un vrai pilotage.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0"/>
          <p:cNvSpPr/>
          <p:nvPr/>
        </p:nvSpPr>
        <p:spPr>
          <a:xfrm>
            <a:off x="566928" y="6711696"/>
            <a:ext cx="5854150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6FD54EAD-F4B2-DDFF-C91C-D4E114240ADB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5D869B42-96C7-2146-4137-9E2995EC0A52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52A2F85B-5465-09A9-2CDA-56A8A25CCE0C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ED4B056B-7A34-80E8-D1FF-AE5C861ADB1F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9" y="402336"/>
            <a:ext cx="10476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AU BESOIN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du client / </a:t>
            </a:r>
            <a:r>
              <a:rPr lang="en-US" sz="2600" b="1" dirty="0" err="1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</a:t>
            </a: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livrées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6928" y="1645920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41248" y="164592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Capter et centraliser chaque lead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27448" y="1645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C63F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30368" y="1645920"/>
            <a:ext cx="61657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création automatique de la fiche en base.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2286000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841248" y="228600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 et détecter les manquants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27448" y="228600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C63F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30368" y="2286000"/>
            <a:ext cx="61657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n8n, extraction des paramètres + questions ciblées.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2926080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41248" y="292608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devis juste, en quelques secondes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727448" y="292608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C63F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30368" y="2926080"/>
            <a:ext cx="61657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calculer_devis() déterministe + distance estimée, figé.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566160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841248" y="356616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proposition professionnelle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727448" y="356616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C63F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30368" y="3566160"/>
            <a:ext cx="61657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généré + email avec boutons Accepter / Refuser.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6928" y="4206240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841248" y="420624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plus oublier les relances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27448" y="420624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C63F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230368" y="4206240"/>
            <a:ext cx="61657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Séquences automatiques J+2 / J+3 / J+7 (max 2) + relance manuelle.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4846320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841248" y="484632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de la visibilité à la direction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727448" y="48463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C63F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30368" y="4846320"/>
            <a:ext cx="61657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 : KPIs, courbe, camembert, export PDF.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66928" y="5486400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841248" y="548640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l’humain sur les cas sensibles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727448" y="548640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C63F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230368" y="5486400"/>
            <a:ext cx="61657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au-delà de 85 passagers + messagerie client ↔ conseiller.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566928" y="6711696"/>
            <a:ext cx="6504611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169C6CB9-95E4-3078-01D0-79C743E6B423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8CE569B0-E7AB-46A8-E2B4-C25ECA7BF6A3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82AECA88-6BB0-CB11-1CB4-F7266315C5F8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DA51B952-2F7D-4B36-164B-04FB6945CECE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8CC63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6FA01E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219456"/>
            <a:ext cx="1979234" cy="1170432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16" y="369300"/>
            <a:ext cx="1570821" cy="870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2395728"/>
            <a:ext cx="457200" cy="109728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66928" y="254203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DEMONSTRATION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6576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 — le parcours complet, en conditions réelles.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43891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prospect  ·  cas complexe (HITL)  ·  espace client  ·  dashboard admin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3A3A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566928" y="6711696"/>
            <a:ext cx="7155072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02336"/>
            <a:ext cx="10517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— LE CŒUR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prospect &amp; cas complexe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6928" y="1691640"/>
            <a:ext cx="53460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41248" y="1911096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prospect → devis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1248" y="2404872"/>
            <a:ext cx="4797400" cy="777240"/>
          </a:xfrm>
          <a:prstGeom prst="roundRect">
            <a:avLst>
              <a:gd name="adj" fmla="val 9412"/>
            </a:avLst>
          </a:prstGeom>
          <a:solidFill>
            <a:srgbClr val="E7EBDE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978408" y="2404872"/>
            <a:ext cx="452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1250" b="1" i="1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 → Annecy, 50 personnes, aller-retour le 12 juillet 2026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9536" y="3364992"/>
            <a:ext cx="476082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 « Votre demande » se remplit en direct, l’agent demande l’email.</a:t>
            </a:r>
            <a:endParaRPr lang="en-US" sz="16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devis affichée + email reçu (PDF joint + boutons Accepter / Refuser).</a:t>
            </a:r>
            <a:endParaRPr lang="en-US" sz="16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vient du moteur, pas de l’IA, et la distance est estimée automatiquement.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78728" y="1691640"/>
            <a:ext cx="53460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553048" y="1911096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complexe → escalade (HITL)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53048" y="2404872"/>
            <a:ext cx="4797400" cy="777240"/>
          </a:xfrm>
          <a:prstGeom prst="roundRect">
            <a:avLst>
              <a:gd name="adj" fmla="val 9412"/>
            </a:avLst>
          </a:prstGeom>
          <a:solidFill>
            <a:srgbClr val="E7EBDE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690208" y="2404872"/>
            <a:ext cx="452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1250" b="1" i="1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Marseille → Lille, 120 personnes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71336" y="3364992"/>
            <a:ext cx="476082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85 passagers → message d’escalade, aucun devis automatique.</a:t>
            </a:r>
            <a:endParaRPr lang="en-US" sz="16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devient un « cas complexe » transmis à un humain avec le contexte.</a:t>
            </a:r>
            <a:endParaRPr lang="en-US" sz="16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 « non » à l’automatisation totale est un gage de fiabilité, pas une limite.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566928" y="6711696"/>
            <a:ext cx="7805534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589AF0F6-6429-0898-293F-ABAC3DBCE3B6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30006C0D-EADE-15FC-8D9F-EADC16229E9F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C25B11E6-CCD9-41DE-F84D-EB09A6CCA541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DF936E6D-9AE9-7008-BFAB-099EFA5931C9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AD708DA8-159A-14CE-7602-39FEC55B9B6F}"/>
              </a:ext>
            </a:extLst>
          </p:cNvPr>
          <p:cNvSpPr/>
          <p:nvPr/>
        </p:nvSpPr>
        <p:spPr>
          <a:xfrm>
            <a:off x="5375161" y="1911096"/>
            <a:ext cx="285374" cy="274320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6758B7F4-C584-71C0-CF02-0190B3257AF7}"/>
              </a:ext>
            </a:extLst>
          </p:cNvPr>
          <p:cNvSpPr/>
          <p:nvPr/>
        </p:nvSpPr>
        <p:spPr>
          <a:xfrm>
            <a:off x="11087850" y="1921320"/>
            <a:ext cx="284567" cy="273600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9" y="402336"/>
            <a:ext cx="10534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— CLIENT &amp; PILOTAGE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client &amp; dashboard admin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6928" y="1691640"/>
            <a:ext cx="53460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41248" y="1911096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client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9536" y="2404872"/>
            <a:ext cx="47608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Accepter » d’un email sans compte → inscription pré-remplie.</a:t>
            </a:r>
            <a:endParaRPr lang="en-US" sz="1600" dirty="0"/>
          </a:p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client : Mes devis (PDF, accepter / refuser avec motifs), Mes conversations, Mon compte.</a:t>
            </a:r>
            <a:endParaRPr lang="en-US" sz="1600" dirty="0"/>
          </a:p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Refuser » depuis l’email → page de motifs → relances stoppées.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691640"/>
            <a:ext cx="53460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553048" y="1911096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71336" y="2404872"/>
            <a:ext cx="47608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courbe d’évolution, camembert des refus, filtre par dates, export PDF.</a:t>
            </a:r>
            <a:endParaRPr lang="en-US" sz="1600" dirty="0"/>
          </a:p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complexe → devis sur-mesure (prix HT → TVA / TTC → envoi) → rejoint le pipeline.</a:t>
            </a:r>
            <a:endParaRPr lang="en-US" sz="1600" dirty="0"/>
          </a:p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HITL bidirectionnelle, bouton « Lancer les relances dues ».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66928" y="6711696"/>
            <a:ext cx="8455995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1D49BF5D-736A-AA93-C592-6FD971F08FE4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B764A007-39B9-D26F-AF3C-BF0C7BFF47D0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90E6DF6-323A-750F-3620-F6343EA6FCB1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3E845216-399F-2719-926B-D15893AAA489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89046E47-6FB7-8011-E501-CE975D7FD3CE}"/>
              </a:ext>
            </a:extLst>
          </p:cNvPr>
          <p:cNvSpPr/>
          <p:nvPr/>
        </p:nvSpPr>
        <p:spPr>
          <a:xfrm>
            <a:off x="11087850" y="1921320"/>
            <a:ext cx="284567" cy="273600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47CF2DF8-7521-27EB-F458-28F4C4B4B1EA}"/>
              </a:ext>
            </a:extLst>
          </p:cNvPr>
          <p:cNvSpPr/>
          <p:nvPr/>
        </p:nvSpPr>
        <p:spPr>
          <a:xfrm>
            <a:off x="5375161" y="1911096"/>
            <a:ext cx="285374" cy="274320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9" y="402336"/>
            <a:ext cx="10476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choix assumés et testés en production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6928" y="1737360"/>
            <a:ext cx="50292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22960" y="1956816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arbitrages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" y="2468880"/>
            <a:ext cx="448056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en tunnel local = choix MVP (0 €) : dépend du PC allumé.</a:t>
            </a:r>
            <a:endParaRPr lang="en-US" sz="1600" dirty="0"/>
          </a:p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cohérent de bout en bout, pas une app de production (cas limites non exhaustifs).</a:t>
            </a:r>
            <a:endParaRPr lang="en-US" sz="1600" dirty="0"/>
          </a:p>
          <a:p>
            <a:pPr marL="177800" indent="-1778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Péages forfaitaires au MVP, paramétrables et affinés en P2.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70448" y="1737360"/>
            <a:ext cx="5754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vs production — coût mensuel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70448" y="2240280"/>
            <a:ext cx="5754319" cy="1024128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053328" y="2240280"/>
            <a:ext cx="1920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065008" y="2240280"/>
            <a:ext cx="337687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/ soutenance (tunnel local)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70448" y="3429000"/>
            <a:ext cx="5754319" cy="1024128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053328" y="3429000"/>
            <a:ext cx="1920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0-1 €/</a:t>
            </a:r>
            <a:r>
              <a:rPr lang="en-US" sz="2600" b="1" dirty="0" err="1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065008" y="3429000"/>
            <a:ext cx="337687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« éco » 24/7 (n8n Oracle Free)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870448" y="4617720"/>
            <a:ext cx="5754319" cy="1024128"/>
          </a:xfrm>
          <a:prstGeom prst="roundRect">
            <a:avLst>
              <a:gd name="adj" fmla="val 7143"/>
            </a:avLst>
          </a:prstGeom>
          <a:solidFill>
            <a:srgbClr val="E7EBDE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053328" y="4617720"/>
            <a:ext cx="1920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30 €/</a:t>
            </a:r>
            <a:r>
              <a:rPr lang="en-US" sz="2600" b="1" dirty="0" err="1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065008" y="4617720"/>
            <a:ext cx="337687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« </a:t>
            </a:r>
            <a:r>
              <a:rPr lang="en-US" sz="12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soutenue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» — recommandée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566928" y="6711696"/>
            <a:ext cx="9106456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BA1ADC43-1363-CF41-CFEF-A88A6D392959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AEB9BC03-2245-CF1B-58E9-6E025BB59456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11CF629E-B0A0-CE08-53BE-0A09FA55F3E9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6169EC71-523E-A548-CD5C-8B4A5C67C00A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cont\Desktop\Autocar-Location-master\livrables\assets\logo-neo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"/>
            <a:ext cx="914400" cy="506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02336"/>
            <a:ext cx="10575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vers une V2 &amp; passation livrée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6928" y="1737360"/>
            <a:ext cx="53003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41248" y="196596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— vers une version 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9536" y="2468880"/>
            <a:ext cx="47151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héberger n8n 24/7 (chat indépendant du PC) + Supabase Pro (base toujours active)</a:t>
            </a:r>
            <a:endParaRPr lang="en-US" sz="16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distance &amp; péages enrichis par trajet, observabilité coût/tokens par devis, notifications internes (urgent, cas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canal WhatsApp officiel, A/B testing des relances,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 de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environnementaux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24448" y="1737360"/>
            <a:ext cx="5300320" cy="4069080"/>
          </a:xfrm>
          <a:prstGeom prst="roundRect">
            <a:avLst>
              <a:gd name="adj" fmla="val 1798"/>
            </a:avLst>
          </a:prstGeom>
          <a:solidFill>
            <a:srgbClr val="E7EBDE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598768" y="196596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Passation</a:t>
            </a: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7056" y="2468880"/>
            <a:ext cx="47151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repreneur : relancer le projet en local en 5 minutes</a:t>
            </a:r>
            <a:endParaRPr lang="en-US" sz="16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équipe NeoTravel : termes clés en clair + usage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quotidien</a:t>
            </a:r>
            <a:endParaRPr lang="en-US" sz="16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documentée : modifier pricing, emails, statuts, relances</a:t>
            </a:r>
            <a:endParaRPr lang="en-US" sz="1600" dirty="0"/>
          </a:p>
          <a:p>
            <a:pPr marL="177800" indent="-1778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P1/P2/P3 + README, API Swagger (/docs),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TypeDoc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98768" y="5824728"/>
            <a:ext cx="438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6F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solution peut vivre et évoluer sans ses créateurs.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" y="6711696"/>
            <a:ext cx="11057839" cy="5486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66928" y="6711696"/>
            <a:ext cx="9756917" cy="5486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6E0A377-C6D9-6610-4EC2-0A3E23245F9E}"/>
              </a:ext>
            </a:extLst>
          </p:cNvPr>
          <p:cNvSpPr/>
          <p:nvPr/>
        </p:nvSpPr>
        <p:spPr>
          <a:xfrm>
            <a:off x="11249863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C6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594A3DA8-1591-45E0-4A19-3A031CC8A724}"/>
              </a:ext>
            </a:extLst>
          </p:cNvPr>
          <p:cNvSpPr/>
          <p:nvPr/>
        </p:nvSpPr>
        <p:spPr>
          <a:xfrm>
            <a:off x="11469319" y="37230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35F482A9-2F99-59FA-F3F3-48FF3F8734C3}"/>
              </a:ext>
            </a:extLst>
          </p:cNvPr>
          <p:cNvSpPr/>
          <p:nvPr/>
        </p:nvSpPr>
        <p:spPr>
          <a:xfrm>
            <a:off x="11249863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7EB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81E83899-634E-FAC1-7BE7-7929285B8D35}"/>
              </a:ext>
            </a:extLst>
          </p:cNvPr>
          <p:cNvSpPr/>
          <p:nvPr/>
        </p:nvSpPr>
        <p:spPr>
          <a:xfrm>
            <a:off x="11469319" y="5917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6176F-9922-DC35-DDD4-8C458056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AA18B9-6D23-2ACC-4393-35401AC47050}"/>
              </a:ext>
            </a:extLst>
          </p:cNvPr>
          <p:cNvSpPr/>
          <p:nvPr/>
        </p:nvSpPr>
        <p:spPr>
          <a:xfrm>
            <a:off x="8899855" y="-1645920"/>
            <a:ext cx="4572000" cy="4572000"/>
          </a:xfrm>
          <a:prstGeom prst="ellipse">
            <a:avLst/>
          </a:prstGeom>
          <a:solidFill>
            <a:srgbClr val="8CC63F">
              <a:alpha val="2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8B3994-3FC9-E2C7-F32D-720DD89BA929}"/>
              </a:ext>
            </a:extLst>
          </p:cNvPr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6FA01E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6E8FC8-12B8-3C2F-5454-0532C05D9600}"/>
              </a:ext>
            </a:extLst>
          </p:cNvPr>
          <p:cNvSpPr/>
          <p:nvPr/>
        </p:nvSpPr>
        <p:spPr>
          <a:xfrm>
            <a:off x="457199" y="219456"/>
            <a:ext cx="2244705" cy="1389888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C:\Users\vcont\Desktop\Autocar-Location-master\livrables\assets\logo-neotravel.png">
            <a:extLst>
              <a:ext uri="{FF2B5EF4-FFF2-40B4-BE49-F238E27FC236}">
                <a16:creationId xmlns:a16="http://schemas.microsoft.com/office/drawing/2014/main" id="{74A3EDC7-120C-3072-1F88-E57FA02F0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20" y="363990"/>
            <a:ext cx="1842561" cy="102137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2A6F997-C5F2-AD11-866E-5AD1BB3B7287}"/>
              </a:ext>
            </a:extLst>
          </p:cNvPr>
          <p:cNvSpPr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· AUTOMATISATION IA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509CF0D-A4CD-2B6E-3B61-93958B33E692}"/>
              </a:ext>
            </a:extLst>
          </p:cNvPr>
          <p:cNvSpPr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</a:t>
            </a:r>
            <a:r>
              <a:rPr lang="en-US" sz="5200" b="1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5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4BAA1A2-05BB-46F0-0233-5A669473CBF9}"/>
              </a:ext>
            </a:extLst>
          </p:cNvPr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</a:t>
            </a:r>
            <a:r>
              <a:rPr lang="en-US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</a:t>
            </a:r>
            <a:r>
              <a:rPr lang="en-US" sz="18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cycle commercial</a:t>
            </a:r>
            <a:endParaRPr lang="en-US" sz="1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0B328B3-3FE2-0966-FD93-4ED4CA4FF098}"/>
              </a:ext>
            </a:extLst>
          </p:cNvPr>
          <p:cNvSpPr/>
          <p:nvPr/>
        </p:nvSpPr>
        <p:spPr>
          <a:xfrm>
            <a:off x="0" y="47091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</a:t>
            </a: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693654C-7917-2CE2-E8F9-1D671034DBB2}"/>
              </a:ext>
            </a:extLst>
          </p:cNvPr>
          <p:cNvSpPr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 MOMPER   ·   Vincent CONTER   ·   Zakaria TOUAMI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59527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2409</Words>
  <Application>Microsoft Office PowerPoint</Application>
  <PresentationFormat>Grand écran</PresentationFormat>
  <Paragraphs>274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autocar-location.com — NeoTravel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de soutenance — NeoTravel</dc:title>
  <dc:subject>PptxGenJS Presentation</dc:subject>
  <dc:creator>Équipe NeoTravel</dc:creator>
  <cp:lastModifiedBy>Vincent Conter</cp:lastModifiedBy>
  <cp:revision>16</cp:revision>
  <dcterms:created xsi:type="dcterms:W3CDTF">2026-06-30T12:03:49Z</dcterms:created>
  <dcterms:modified xsi:type="dcterms:W3CDTF">2026-06-30T15:13:04Z</dcterms:modified>
</cp:coreProperties>
</file>