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Axel — 30 s. Se présenter brièvement et annoncer le plan : objectifs du client → contexte → solution → choix techniques → prévu vs réalisé → démo live → ouverture et passation → questions. Annoncer la règle d’or dès l’ouverture.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Axel — 1,5 min. Poser le cadre : voici ce que le client attendait AVANT qu’on écrive la première ligne (périmètre, irritants, KPIs du dossier de cadrage L1). On y reviendra pour prouver qu’on répond au besoin (slide attentes → réponses).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Axel — 1,5 min. Insister : on veut mieux exploiter le flux existant et libérer les commerciaux pour les tâches à forte valeur (conseil, négociation).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Axel — 1,5 min. La règle d’or est le fil rouge de toute la soutenance. La solution automatise toute la chaîne sans déshumaniser : l’agent prépare, l’humain décide et engage. Le prix est calculé par le tool calculer_devis(), pas par le LLM.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Axel — 1 min. Montrer le schéma réel du projet (docs/architecture.svg). Le front Next.js est le centre : il orchestre tout. Un seul appel LLM avec Gemma 4 pour l’extraction, le reste est déterministe.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Vincent — 2 min. Défendre chaque décision par ses critères (coût, qualité, latence, sorties structurées, compatibilité stack) et assumer la limite observée. Renvoyer à l’Argumentaire des choix (L1) pour le détail.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Vincent — 1 min. Montrer rapidement npm test qui passe et /docs (Swagger) : toute l’API est documentée et explorable.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Vincent — 1,5 min. Assumer les écarts comme des décisions, pas des oublis. Message : on a tenu le cap (chaîne complète) et certains arbitrages ont amélioré le résultat.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Axel — 1,5 min. Boucler avec la slide 2 : chaque attente initiale a sa réponse concrète. C’est la preuve qu’on a traité le besoin du client, pas seulement construit une démo.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Zakaria. Transition vers la démo live. Pré-requis : lancer lancer-n8n-tunnel.bat + reset-complet.sql. Filet de sécurité : un jeu de démo est déjà en base si le chat live échoue.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Zakaria — 3 min. Si Gemma renvoie un 503 ponctuel, renvoyer le message. Filet : devis de démo déjà en base. Le cas complexe montre que le système connaît ses limites.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Zakaria — 3,5 min. Différenciateur (bonus livré) : le prospect suit ses devis et son historique. Le dashboard prouve le pilotage par la donnée, en temps réel.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Vincent — 1,5 min. Assumer franchement : la cohérence du parcours prime sur la perfection d’un maillon. Le seul élément à changer pour la prod : héberger n8n. 4 scénarios chiffrés dans COUTS_ET_PROD.md.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Vincent — 1,5 min. Deux messages : (1) le projet a une suite claire (backlog priorisé), (2) il est déjà reprenable grâce à la doc de passation L3. Répond au critère « rendre la solution reprenable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toute l’équipe — puis 10-15 min de Q&amp;R. Chaque membre reste disponible sur son périmètre (voir l’annexe : questions probables et réponses prêtes).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de secours pour le Q&amp;R : une réponse courte et défendable par question fréquente.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53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645920"/>
            <a:ext cx="4572000" cy="4572000"/>
          </a:xfrm>
          <a:prstGeom prst="ellipse">
            <a:avLst/>
          </a:prstGeom>
          <a:solidFill>
            <a:srgbClr val="0E7A66">
              <a:alpha val="3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297680"/>
            <a:ext cx="3657600" cy="3657600"/>
          </a:xfrm>
          <a:prstGeom prst="ellipse">
            <a:avLst/>
          </a:prstGeom>
          <a:solidFill>
            <a:srgbClr val="13A884">
              <a:alpha val="18000"/>
            </a:srgbClr>
          </a:solidFill>
          <a:ln/>
        </p:spPr>
      </p:sp>
      <p:pic>
        <p:nvPicPr>
          <p:cNvPr id="4" name="Image 0" descr="C:\Users\vcont\Desktop\Autocar-Location-master\livrables\assets\logo-neotr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61408" y="1051560"/>
            <a:ext cx="2468880" cy="1362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C49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DE SOUTENANCE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0" y="310896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Automatisation du cycle commercial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0" y="39776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9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— transport de groupe en autocar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0" y="50749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d’étude MBA1 — InterstellLabs · 1ᵉʳ juillet 2026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F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155C4B"/>
          </a:solidFill>
          <a:ln/>
        </p:spPr>
      </p:sp>
      <p:sp>
        <p:nvSpPr>
          <p:cNvPr id="12" name="Shape 9"/>
          <p:cNvSpPr/>
          <p:nvPr/>
        </p:nvSpPr>
        <p:spPr>
          <a:xfrm>
            <a:off x="566928" y="6711696"/>
            <a:ext cx="691115" cy="54864"/>
          </a:xfrm>
          <a:prstGeom prst="roundRect">
            <a:avLst>
              <a:gd name="adj" fmla="val 50000"/>
            </a:avLst>
          </a:prstGeom>
          <a:solidFill>
            <a:srgbClr val="13A884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57200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POSÉ AVANT DE CODER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&amp; attentes initiales du client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3533546" cy="4297680"/>
          </a:xfrm>
          <a:prstGeom prst="roundRect">
            <a:avLst>
              <a:gd name="adj" fmla="val 2329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847088"/>
            <a:ext cx="420624" cy="420624"/>
          </a:xfrm>
          <a:prstGeom prst="ellipse">
            <a:avLst/>
          </a:prstGeom>
          <a:solidFill>
            <a:srgbClr val="0E7A6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53312" y="1847088"/>
            <a:ext cx="25459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périmètre — 10 fonctions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41248" y="2487168"/>
            <a:ext cx="2984906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Capter le lead (chat / formulaire)</a:t>
            </a:r>
            <a:endParaRPr lang="en-US" sz="11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Centraliser dans un CRM</a:t>
            </a:r>
            <a:endParaRPr lang="en-US" sz="11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Qualifier la demande</a:t>
            </a:r>
            <a:endParaRPr lang="en-US" sz="11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 les infos manquantes</a:t>
            </a:r>
            <a:endParaRPr lang="en-US" sz="11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un devis (déterministe)</a:t>
            </a:r>
            <a:endParaRPr lang="en-US" sz="11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la proposition (PDF)</a:t>
            </a:r>
            <a:endParaRPr lang="en-US" sz="11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le devis au client</a:t>
            </a:r>
            <a:endParaRPr lang="en-US" sz="11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Relancer automatiquement</a:t>
            </a:r>
            <a:endParaRPr lang="en-US" sz="11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le pipeline commercial</a:t>
            </a:r>
            <a:endParaRPr lang="en-US" sz="11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Piloter via un dashboard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29074" y="1627632"/>
            <a:ext cx="3533546" cy="4297680"/>
          </a:xfrm>
          <a:prstGeom prst="roundRect">
            <a:avLst>
              <a:gd name="adj" fmla="val 2329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66818" y="1847088"/>
            <a:ext cx="420624" cy="420624"/>
          </a:xfrm>
          <a:prstGeom prst="ellipse">
            <a:avLst/>
          </a:prstGeom>
          <a:solidFill>
            <a:srgbClr val="0E7A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66818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15458" y="1847088"/>
            <a:ext cx="25459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irritants à résoudre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03394" y="2487168"/>
            <a:ext cx="2984906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payants jamais recontactés (manque à gagner)</a:t>
            </a:r>
            <a:endParaRPr lang="en-US" sz="11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Délais de réponse et devis trop lents</a:t>
            </a:r>
            <a:endParaRPr lang="en-US" sz="11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Relances manuelles oubliées</a:t>
            </a:r>
            <a:endParaRPr lang="en-US" sz="11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Tarification manuelle, lente et faillible</a:t>
            </a:r>
            <a:endParaRPr lang="en-US" sz="11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sans visibilité sur l’activité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91221" y="1627632"/>
            <a:ext cx="3533546" cy="4297680"/>
          </a:xfrm>
          <a:prstGeom prst="roundRect">
            <a:avLst>
              <a:gd name="adj" fmla="val 2329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8965" y="1847088"/>
            <a:ext cx="420624" cy="420624"/>
          </a:xfrm>
          <a:prstGeom prst="ellipse">
            <a:avLst/>
          </a:prstGeom>
          <a:solidFill>
            <a:srgbClr val="0E7A66"/>
          </a:solidFill>
          <a:ln/>
        </p:spPr>
      </p:sp>
      <p:sp>
        <p:nvSpPr>
          <p:cNvPr id="17" name="Text 15"/>
          <p:cNvSpPr/>
          <p:nvPr/>
        </p:nvSpPr>
        <p:spPr>
          <a:xfrm>
            <a:off x="8328965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77605" y="1847088"/>
            <a:ext cx="25459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KPIs visés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65541" y="2487168"/>
            <a:ext cx="2984906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leads traités → ~100 %</a:t>
            </a:r>
            <a:endParaRPr lang="en-US" sz="11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demande → devis : en minutes</a:t>
            </a:r>
            <a:endParaRPr lang="en-US" sz="11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relance oubliée</a:t>
            </a:r>
            <a:endParaRPr lang="en-US" sz="11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Visibilité des demandes urgentes</a:t>
            </a:r>
            <a:endParaRPr lang="en-US" sz="11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IA par devis maîtrisé (bonus)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2ECE8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6711696"/>
            <a:ext cx="1382230" cy="54864"/>
          </a:xfrm>
          <a:prstGeom prst="roundRect">
            <a:avLst>
              <a:gd name="adj" fmla="val 50000"/>
            </a:avLst>
          </a:prstGeom>
          <a:solidFill>
            <a:srgbClr val="0E7A66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57200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NEOTRAVEL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problème : l’exploitation, pas l’acquisition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3657600" cy="4114800"/>
          </a:xfrm>
          <a:prstGeom prst="roundRect">
            <a:avLst>
              <a:gd name="adj" fmla="val 2250"/>
            </a:avLst>
          </a:prstGeom>
          <a:solidFill>
            <a:srgbClr val="EAF4F0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20116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C4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~60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566928" y="3154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/ jour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L’acquisition n’est pas le problème — le flux existant est sous-exploité, faute de capacité de traitement.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98848" y="1691640"/>
            <a:ext cx="7125919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911096"/>
            <a:ext cx="6613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1 — des leads perdus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773168" y="2423160"/>
            <a:ext cx="6577279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Commerciaux commissionnés → priorité aux gros leads.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leads payants (Ads) ne sont jamais recontactés = manque à gagner direct.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498848" y="3840480"/>
            <a:ext cx="7125919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4059936"/>
            <a:ext cx="6613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2 — acquisition bridée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773168" y="4572000"/>
            <a:ext cx="6577279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automatisation, plus de leads = plus de charge, pas plus de CA.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S’ajoutent : tarif manuel lent, relances oubliées, direction sans visibilité.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2ECE8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6711696"/>
            <a:ext cx="2073345" cy="54864"/>
          </a:xfrm>
          <a:prstGeom prst="roundRect">
            <a:avLst>
              <a:gd name="adj" fmla="val 50000"/>
            </a:avLst>
          </a:prstGeom>
          <a:solidFill>
            <a:srgbClr val="0E7A66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57200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solution : un copilote, et une règle d’or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955536" cy="1554480"/>
          </a:xfrm>
          <a:prstGeom prst="roundRect">
            <a:avLst>
              <a:gd name="adj" fmla="val 5294"/>
            </a:avLst>
          </a:prstGeom>
          <a:solidFill>
            <a:srgbClr val="EAF4F0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16096" y="2029968"/>
            <a:ext cx="457200" cy="457200"/>
          </a:xfrm>
          <a:prstGeom prst="ellipse">
            <a:avLst/>
          </a:prstGeom>
          <a:solidFill>
            <a:srgbClr val="0E7A66"/>
          </a:solidFill>
          <a:ln/>
        </p:spPr>
      </p:sp>
      <p:sp>
        <p:nvSpPr>
          <p:cNvPr id="7" name="Text 5"/>
          <p:cNvSpPr/>
          <p:nvPr/>
        </p:nvSpPr>
        <p:spPr>
          <a:xfrm>
            <a:off x="1316096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2578608"/>
            <a:ext cx="1772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(chat)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540752" y="2423160"/>
            <a:ext cx="28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3A884"/>
                </a:solidFill>
              </a:rPr>
              <a:t>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42504" y="1828800"/>
            <a:ext cx="1955536" cy="1554480"/>
          </a:xfrm>
          <a:prstGeom prst="roundRect">
            <a:avLst>
              <a:gd name="adj" fmla="val 5294"/>
            </a:avLst>
          </a:prstGeom>
          <a:solidFill>
            <a:srgbClr val="EAF4F0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1672" y="2029968"/>
            <a:ext cx="457200" cy="457200"/>
          </a:xfrm>
          <a:prstGeom prst="ellipse">
            <a:avLst/>
          </a:prstGeom>
          <a:solidFill>
            <a:srgbClr val="0E7A66"/>
          </a:solidFill>
          <a:ln/>
        </p:spPr>
      </p:sp>
      <p:sp>
        <p:nvSpPr>
          <p:cNvPr id="12" name="Text 10"/>
          <p:cNvSpPr/>
          <p:nvPr/>
        </p:nvSpPr>
        <p:spPr>
          <a:xfrm>
            <a:off x="3591672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33944" y="2578608"/>
            <a:ext cx="1772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(agent IA)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816328" y="2423160"/>
            <a:ext cx="28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3A884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18080" y="1828800"/>
            <a:ext cx="1955536" cy="1554480"/>
          </a:xfrm>
          <a:prstGeom prst="roundRect">
            <a:avLst>
              <a:gd name="adj" fmla="val 5294"/>
            </a:avLst>
          </a:prstGeom>
          <a:solidFill>
            <a:srgbClr val="EAF4F0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67248" y="2029968"/>
            <a:ext cx="457200" cy="457200"/>
          </a:xfrm>
          <a:prstGeom prst="ellipse">
            <a:avLst/>
          </a:prstGeom>
          <a:solidFill>
            <a:srgbClr val="0E7A66"/>
          </a:solidFill>
          <a:ln/>
        </p:spPr>
      </p:sp>
      <p:sp>
        <p:nvSpPr>
          <p:cNvPr id="17" name="Text 15"/>
          <p:cNvSpPr/>
          <p:nvPr/>
        </p:nvSpPr>
        <p:spPr>
          <a:xfrm>
            <a:off x="5867248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09520" y="2578608"/>
            <a:ext cx="1772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déterministe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091904" y="2423160"/>
            <a:ext cx="28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3A884"/>
                </a:solidFill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93656" y="1828800"/>
            <a:ext cx="1955536" cy="1554480"/>
          </a:xfrm>
          <a:prstGeom prst="roundRect">
            <a:avLst>
              <a:gd name="adj" fmla="val 5294"/>
            </a:avLst>
          </a:prstGeom>
          <a:solidFill>
            <a:srgbClr val="EAF4F0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42823" y="2029968"/>
            <a:ext cx="457200" cy="457200"/>
          </a:xfrm>
          <a:prstGeom prst="ellipse">
            <a:avLst/>
          </a:prstGeom>
          <a:solidFill>
            <a:srgbClr val="0E7A66"/>
          </a:solidFill>
          <a:ln/>
        </p:spPr>
      </p:sp>
      <p:sp>
        <p:nvSpPr>
          <p:cNvPr id="22" name="Text 20"/>
          <p:cNvSpPr/>
          <p:nvPr/>
        </p:nvSpPr>
        <p:spPr>
          <a:xfrm>
            <a:off x="8142823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85096" y="2578608"/>
            <a:ext cx="1772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PDF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relances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367479" y="2423160"/>
            <a:ext cx="28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3A884"/>
                </a:solidFill>
              </a:rPr>
              <a:t>▶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69231" y="1828800"/>
            <a:ext cx="1955536" cy="1554480"/>
          </a:xfrm>
          <a:prstGeom prst="roundRect">
            <a:avLst>
              <a:gd name="adj" fmla="val 5294"/>
            </a:avLst>
          </a:prstGeom>
          <a:solidFill>
            <a:srgbClr val="EAF4F0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418399" y="2029968"/>
            <a:ext cx="457200" cy="457200"/>
          </a:xfrm>
          <a:prstGeom prst="ellipse">
            <a:avLst/>
          </a:prstGeom>
          <a:solidFill>
            <a:srgbClr val="0E7A66"/>
          </a:solidFill>
          <a:ln/>
        </p:spPr>
      </p:sp>
      <p:sp>
        <p:nvSpPr>
          <p:cNvPr id="27" name="Text 25"/>
          <p:cNvSpPr/>
          <p:nvPr/>
        </p:nvSpPr>
        <p:spPr>
          <a:xfrm>
            <a:off x="10418399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760671" y="2578608"/>
            <a:ext cx="1772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pilotage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3886200"/>
            <a:ext cx="11057839" cy="1737360"/>
          </a:xfrm>
          <a:prstGeom prst="roundRect">
            <a:avLst>
              <a:gd name="adj" fmla="val 4737"/>
            </a:avLst>
          </a:prstGeom>
          <a:solidFill>
            <a:srgbClr val="0A5346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32688" y="4114800"/>
            <a:ext cx="10326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9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La règle d’or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32688" y="4572000"/>
            <a:ext cx="103263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L’IA comprend et oriente, mais le prix vient TOUJOURS du code déterministe — jamais du modèle de langage. Reproductible, auditable, zéro hallucination tarifaire. L’humain garde la main sur les cas sensibles.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2ECE8"/>
          </a:solidFill>
          <a:ln/>
        </p:spPr>
      </p:sp>
      <p:sp>
        <p:nvSpPr>
          <p:cNvPr id="35" name="Shape 33"/>
          <p:cNvSpPr/>
          <p:nvPr/>
        </p:nvSpPr>
        <p:spPr>
          <a:xfrm>
            <a:off x="566928" y="6711696"/>
            <a:ext cx="2764460" cy="54864"/>
          </a:xfrm>
          <a:prstGeom prst="roundRect">
            <a:avLst>
              <a:gd name="adj" fmla="val 50000"/>
            </a:avLst>
          </a:prstGeom>
          <a:solidFill>
            <a:srgbClr val="0E7A66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57200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D’ENSEMBLE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2900" dirty="0"/>
          </a:p>
        </p:txBody>
      </p:sp>
      <p:pic>
        <p:nvPicPr>
          <p:cNvPr id="5" name="Image 0" descr="C:\Users\vcont\Desktop\Autocar-Location-master\docs\architectur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78328" y="1554480"/>
            <a:ext cx="6035040" cy="394125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029200"/>
            <a:ext cx="11057839" cy="868680"/>
          </a:xfrm>
          <a:prstGeom prst="roundRect">
            <a:avLst>
              <a:gd name="adj" fmla="val 9474"/>
            </a:avLst>
          </a:prstGeom>
          <a:solidFill>
            <a:srgbClr val="D9F0EA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86968" y="5029200"/>
            <a:ext cx="104177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appel LLM, avec Gemma 4, pour l’extraction.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nœud Code calcule le prix ET rédige la réponse → rapide (timeout 30 s), fiable, sans fuite de raisonnement.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2ECE8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6711696"/>
            <a:ext cx="3455575" cy="54864"/>
          </a:xfrm>
          <a:prstGeom prst="roundRect">
            <a:avLst>
              <a:gd name="adj" fmla="val 50000"/>
            </a:avLst>
          </a:prstGeom>
          <a:solidFill>
            <a:srgbClr val="0E7A66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57200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DÉFENSE DES CHOIX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Choix techniques : pas seulement quoi, mais pourquoi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5391760" cy="1481328"/>
          </a:xfrm>
          <a:prstGeom prst="roundRect">
            <a:avLst>
              <a:gd name="adj" fmla="val 5556"/>
            </a:avLst>
          </a:prstGeom>
          <a:solidFill>
            <a:srgbClr val="EAF4F0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856232"/>
            <a:ext cx="128016" cy="128016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7" name="Text 5"/>
          <p:cNvSpPr/>
          <p:nvPr/>
        </p:nvSpPr>
        <p:spPr>
          <a:xfrm>
            <a:off x="1042416" y="1764792"/>
            <a:ext cx="466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42416" y="2020824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n8n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59536" y="2441448"/>
            <a:ext cx="480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place visuelle et rapide, relances intégrées, courbe d’apprentissage douce.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3008" y="1600200"/>
            <a:ext cx="5391760" cy="1481328"/>
          </a:xfrm>
          <a:prstGeom prst="roundRect">
            <a:avLst>
              <a:gd name="adj" fmla="val 5556"/>
            </a:avLst>
          </a:prstGeom>
          <a:solidFill>
            <a:srgbClr val="F4F8F6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89040" y="1856232"/>
            <a:ext cx="128016" cy="128016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12" name="Text 10"/>
          <p:cNvSpPr/>
          <p:nvPr/>
        </p:nvSpPr>
        <p:spPr>
          <a:xfrm>
            <a:off x="6708496" y="1764792"/>
            <a:ext cx="466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IA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08496" y="2020824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Gemma 4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25616" y="2441448"/>
            <a:ext cx="480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 (quota AI Studio), sorties JSON structurées fiables, latence basse, rôle d’assistance seul.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355848"/>
            <a:ext cx="5391760" cy="1481328"/>
          </a:xfrm>
          <a:prstGeom prst="roundRect">
            <a:avLst>
              <a:gd name="adj" fmla="val 5556"/>
            </a:avLst>
          </a:prstGeom>
          <a:solidFill>
            <a:srgbClr val="EAF4F0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3611880"/>
            <a:ext cx="128016" cy="128016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3520440"/>
            <a:ext cx="466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&amp; AUTHENTIFICATION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42416" y="3776472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9536" y="4197096"/>
            <a:ext cx="480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Base, Authentification et sécurité par ligne dans une seule stack, dashboard sur-mesure sans surcoût.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33008" y="3355848"/>
            <a:ext cx="5391760" cy="1481328"/>
          </a:xfrm>
          <a:prstGeom prst="roundRect">
            <a:avLst>
              <a:gd name="adj" fmla="val 5556"/>
            </a:avLst>
          </a:prstGeom>
          <a:solidFill>
            <a:srgbClr val="F4F8F6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89040" y="3611880"/>
            <a:ext cx="128016" cy="128016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22" name="Text 20"/>
          <p:cNvSpPr/>
          <p:nvPr/>
        </p:nvSpPr>
        <p:spPr>
          <a:xfrm>
            <a:off x="6708496" y="3520440"/>
            <a:ext cx="466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 LLM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08496" y="3776472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seul (extraction)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25616" y="4197096"/>
            <a:ext cx="480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Tient dans le timeout 30 s, moins d’erreurs 503, aucune fuite de raisonnement vers le client.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111496"/>
            <a:ext cx="11057839" cy="868680"/>
          </a:xfrm>
          <a:prstGeom prst="roundRect">
            <a:avLst>
              <a:gd name="adj" fmla="val 9474"/>
            </a:avLst>
          </a:prstGeom>
          <a:solidFill>
            <a:srgbClr val="0A5346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32688" y="5111496"/>
            <a:ext cx="103263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9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observée —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 ponctuels du LLM. Mitigée par des retries, et le prix comme la réponse ne dépendent pas du LLM : le devis sort quand même.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2ECE8"/>
          </a:solidFill>
          <a:ln/>
        </p:spPr>
      </p:sp>
      <p:sp>
        <p:nvSpPr>
          <p:cNvPr id="30" name="Shape 28"/>
          <p:cNvSpPr/>
          <p:nvPr/>
        </p:nvSpPr>
        <p:spPr>
          <a:xfrm>
            <a:off x="566928" y="6711696"/>
            <a:ext cx="4146690" cy="54864"/>
          </a:xfrm>
          <a:prstGeom prst="roundRect">
            <a:avLst>
              <a:gd name="adj" fmla="val 50000"/>
            </a:avLst>
          </a:prstGeom>
          <a:solidFill>
            <a:srgbClr val="0E7A66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57200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SYSTÈME SÛR, JUSTE ET AUDITABLE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Fiabilité &amp; garde-fous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346040" cy="212598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65376"/>
            <a:ext cx="483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déterministe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377440"/>
            <a:ext cx="4797400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calculer_devis() testé, jamais le LLM.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1ᵉʳ prix figé (distance estimée).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8728" y="1645920"/>
            <a:ext cx="5346040" cy="212598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4760" y="1865376"/>
            <a:ext cx="483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: types ET limites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53048" y="2377440"/>
            <a:ext cx="4797400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passager, date incohérente, gros volume…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85 passagers → escalade, pas de prix.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4046220"/>
            <a:ext cx="5346040" cy="212598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265676"/>
            <a:ext cx="483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4777740"/>
            <a:ext cx="4797400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Minimisation, données fictives ou minimales.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de démo = aucun envoi réel.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78728" y="4046220"/>
            <a:ext cx="5346040" cy="212598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34760" y="4265676"/>
            <a:ext cx="483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&amp; HITL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53048" y="4777740"/>
            <a:ext cx="4797400" cy="122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code ne négocie jamais le prix.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cas hors cadre escaladé à un humain.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2ECE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6711696"/>
            <a:ext cx="4837805" cy="54864"/>
          </a:xfrm>
          <a:prstGeom prst="roundRect">
            <a:avLst>
              <a:gd name="adj" fmla="val 50000"/>
            </a:avLst>
          </a:prstGeom>
          <a:solidFill>
            <a:srgbClr val="0E7A66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57200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Prévu (L1) → réalisé (L2/L3)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11057839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600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gpt-4o-mini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630168" y="1600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A3C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78808" y="16002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(gratuit)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287768" y="1600200"/>
            <a:ext cx="41083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AI Studio, sorties JSON suffisantes.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496312"/>
            <a:ext cx="11057839" cy="822960"/>
          </a:xfrm>
          <a:prstGeom prst="roundRect">
            <a:avLst>
              <a:gd name="adj" fmla="val 10000"/>
            </a:avLst>
          </a:prstGeom>
          <a:solidFill>
            <a:srgbClr val="F4F8F6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1248" y="249631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estimée plus tard (P2)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630168" y="2496312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A3C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178808" y="24963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estimée dès le MVP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287768" y="2496312"/>
            <a:ext cx="41083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gratuit sans clé, devis juste tout de suite.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392424"/>
            <a:ext cx="11057839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339242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hébergé (cloud)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630168" y="3392424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A3C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78808" y="339242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local à URL fixe (0 €)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287768" y="3392424"/>
            <a:ext cx="41083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gratuit suffisant, voie de prod documentée.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288536"/>
            <a:ext cx="11057839" cy="822960"/>
          </a:xfrm>
          <a:prstGeom prst="roundRect">
            <a:avLst>
              <a:gd name="adj" fmla="val 10000"/>
            </a:avLst>
          </a:prstGeom>
          <a:solidFill>
            <a:srgbClr val="F4F8F6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1248" y="428853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client = bonus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630168" y="4288536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A3C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78808" y="4288536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Livré (devis, conversations, messagerie)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287768" y="4288536"/>
            <a:ext cx="41083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valeur client, simple dans Supabase.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5184648"/>
            <a:ext cx="11057839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41248" y="518464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simple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630168" y="5184648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A3C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178808" y="5184648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riche (courbe, camembert, export)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87768" y="5184648"/>
            <a:ext cx="41083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facilitait un vrai pilotage.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2ECE8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6711696"/>
            <a:ext cx="5528920" cy="54864"/>
          </a:xfrm>
          <a:prstGeom prst="roundRect">
            <a:avLst>
              <a:gd name="adj" fmla="val 50000"/>
            </a:avLst>
          </a:prstGeom>
          <a:solidFill>
            <a:srgbClr val="0E7A66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57200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RÉPOND AU BESOIN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Attentes du client → réponses livrées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72768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Capter et centraliser chaque lead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727448" y="1572768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9A3C"/>
                </a:solidFill>
              </a:rPr>
              <a:t>→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30368" y="1572768"/>
            <a:ext cx="61657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création automatique de la fiche en base.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231136"/>
            <a:ext cx="11057839" cy="603504"/>
          </a:xfrm>
          <a:prstGeom prst="roundRect">
            <a:avLst>
              <a:gd name="adj" fmla="val 13636"/>
            </a:avLst>
          </a:prstGeom>
          <a:solidFill>
            <a:srgbClr val="F4F8F6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1248" y="2231136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Qualifier et détecter les manquants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27448" y="2231136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9A3C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30368" y="2231136"/>
            <a:ext cx="61657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n8n, extraction des paramètres + questions ciblées.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89504"/>
            <a:ext cx="11057839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2889504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devis juste, en quelques secondes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27448" y="2889504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9A3C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30368" y="2889504"/>
            <a:ext cx="61657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calculer_devis() déterministe + distance estimée, figé.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547872"/>
            <a:ext cx="11057839" cy="603504"/>
          </a:xfrm>
          <a:prstGeom prst="roundRect">
            <a:avLst>
              <a:gd name="adj" fmla="val 13636"/>
            </a:avLst>
          </a:prstGeom>
          <a:solidFill>
            <a:srgbClr val="F4F8F6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" y="354787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proposition professionnelle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27448" y="3547872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9A3C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230368" y="3547872"/>
            <a:ext cx="61657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généré + email avec boutons Accepter / Refuser.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206240"/>
            <a:ext cx="11057839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1248" y="4206240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plus oublier les relances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27448" y="4206240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9A3C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230368" y="4206240"/>
            <a:ext cx="61657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Séquences automatiques J+2 / J+3 / J+7 (max 2) + relance manuelle.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864608"/>
            <a:ext cx="11057839" cy="603504"/>
          </a:xfrm>
          <a:prstGeom prst="roundRect">
            <a:avLst>
              <a:gd name="adj" fmla="val 13636"/>
            </a:avLst>
          </a:prstGeom>
          <a:solidFill>
            <a:srgbClr val="F4F8F6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41248" y="4864608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de la visibilité à la direction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27448" y="4864608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9A3C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30368" y="4864608"/>
            <a:ext cx="61657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admin : KPIs, courbe, camembert, export PDF.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522976"/>
            <a:ext cx="11057839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41248" y="5522976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Garder l’humain sur les cas sensibles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727448" y="5522976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9A3C"/>
                </a:solidFill>
              </a:rPr>
              <a:t>→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230368" y="5522976"/>
            <a:ext cx="61657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Escalade au-delà de 85 passagers + messagerie client ↔ conseiller.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2ECE8"/>
          </a:solidFill>
          <a:ln/>
        </p:spPr>
      </p:sp>
      <p:sp>
        <p:nvSpPr>
          <p:cNvPr id="36" name="Shape 34"/>
          <p:cNvSpPr/>
          <p:nvPr/>
        </p:nvSpPr>
        <p:spPr>
          <a:xfrm>
            <a:off x="566928" y="6711696"/>
            <a:ext cx="6220035" cy="54864"/>
          </a:xfrm>
          <a:prstGeom prst="roundRect">
            <a:avLst>
              <a:gd name="adj" fmla="val 50000"/>
            </a:avLst>
          </a:prstGeom>
          <a:solidFill>
            <a:srgbClr val="0E7A66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53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1463040"/>
            <a:ext cx="4023360" cy="4023360"/>
          </a:xfrm>
          <a:prstGeom prst="ellipse">
            <a:avLst/>
          </a:prstGeom>
          <a:solidFill>
            <a:srgbClr val="0E7A66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480560"/>
            <a:ext cx="3291840" cy="3291840"/>
          </a:xfrm>
          <a:prstGeom prst="ellipse">
            <a:avLst/>
          </a:prstGeom>
          <a:solidFill>
            <a:srgbClr val="13A884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2286000"/>
            <a:ext cx="146304" cy="146304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fonctionne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live — le parcours complet, en conditions réelles.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66928" y="429768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prospect  ·  cas complexe (HITL)  ·  espace client  ·  dashboard admin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F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155C4B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6711696"/>
            <a:ext cx="6911150" cy="54864"/>
          </a:xfrm>
          <a:prstGeom prst="roundRect">
            <a:avLst>
              <a:gd name="adj" fmla="val 50000"/>
            </a:avLst>
          </a:prstGeom>
          <a:solidFill>
            <a:srgbClr val="13A884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57200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— LE CŒUR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Parcours prospect &amp; cas complexe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34604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865376"/>
            <a:ext cx="479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prospect → devis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41248" y="2359152"/>
            <a:ext cx="4797400" cy="777240"/>
          </a:xfrm>
          <a:prstGeom prst="roundRect">
            <a:avLst>
              <a:gd name="adj" fmla="val 10588"/>
            </a:avLst>
          </a:prstGeom>
          <a:solidFill>
            <a:srgbClr val="D9F0EA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78408" y="2359152"/>
            <a:ext cx="452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</a:t>
            </a:r>
            <a:pPr indent="0" marL="0">
              <a:buNone/>
            </a:pPr>
            <a:r>
              <a:rPr lang="en-US" sz="1250" b="1" i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 → Annecy, 50 personnes, aller-retour le 12 juillet 2026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59536" y="3319272"/>
            <a:ext cx="4760824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barre « Votre demande » se remplit en direct, l’agent demande l’email.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devis affichée + email reçu (PDF joint + boutons Accepter / Refuser).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prix vient du moteur, pas de l’IA, et la distance est estimée automatiquement.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645920"/>
            <a:ext cx="534604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3048" y="1865376"/>
            <a:ext cx="479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complexe → escalade (HITL)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53048" y="2359152"/>
            <a:ext cx="4797400" cy="777240"/>
          </a:xfrm>
          <a:prstGeom prst="roundRect">
            <a:avLst>
              <a:gd name="adj" fmla="val 10588"/>
            </a:avLst>
          </a:prstGeom>
          <a:solidFill>
            <a:srgbClr val="D9F0EA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90208" y="2359152"/>
            <a:ext cx="452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</a:t>
            </a:r>
            <a:pPr indent="0" marL="0">
              <a:buNone/>
            </a:pPr>
            <a:r>
              <a:rPr lang="en-US" sz="1250" b="1" i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Marseille → Lille, 120 personnes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71336" y="3319272"/>
            <a:ext cx="4760824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85 passagers → message d’escalade, aucun devis automatique.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demande devient un « cas complexe » transmis à un humain avec le contexte.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« non » à l’automatisation totale est un gage de fiabilité, pas une limite.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2ECE8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6711696"/>
            <a:ext cx="7602264" cy="54864"/>
          </a:xfrm>
          <a:prstGeom prst="roundRect">
            <a:avLst>
              <a:gd name="adj" fmla="val 50000"/>
            </a:avLst>
          </a:prstGeom>
          <a:solidFill>
            <a:srgbClr val="0E7A66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57200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— CLIENT &amp; PILOTAGE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Espace client &amp; dashboard admin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34604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865376"/>
            <a:ext cx="479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Côté client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9536" y="2359152"/>
            <a:ext cx="4760824" cy="3538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Accepter » d’un email sans compte → inscription pré-remplie.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client : Mes devis (PDF, accepter / refuser avec motifs), Mes conversations, Mon compte.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Refuser » depuis l’email → page de motifs → relances stoppées.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8728" y="1645920"/>
            <a:ext cx="534604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53048" y="1865376"/>
            <a:ext cx="479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admin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71336" y="2359152"/>
            <a:ext cx="4760824" cy="3538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courbe d’évolution, camembert des refus, filtre par dates, export PDF.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complexe → devis sur-mesure (prix HT → TVA / TTC → envoi) → rejoint le pipeline.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 HITL bidirectionnelle, bouton « Lancer les relances dues ».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2ECE8"/>
          </a:solidFill>
          <a:ln/>
        </p:spPr>
      </p:sp>
      <p:sp>
        <p:nvSpPr>
          <p:cNvPr id="14" name="Shape 12"/>
          <p:cNvSpPr/>
          <p:nvPr/>
        </p:nvSpPr>
        <p:spPr>
          <a:xfrm>
            <a:off x="566928" y="6711696"/>
            <a:ext cx="8293379" cy="54864"/>
          </a:xfrm>
          <a:prstGeom prst="roundRect">
            <a:avLst>
              <a:gd name="adj" fmla="val 50000"/>
            </a:avLst>
          </a:prstGeom>
          <a:solidFill>
            <a:srgbClr val="0E7A66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57200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ASSUMÉES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qu’on assume — et le passage en production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502920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11096"/>
            <a:ext cx="4517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&amp; arbitrages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423160"/>
            <a:ext cx="4480560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en tunnel local = choix MVP (0 €) : dépend du PC allumé.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cohérent de bout en bout, pas une app de production (cas limites non exhaustifs).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Péages forfaitaires au MVP, paramétrables et affinés en P2.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870448" y="1691640"/>
            <a:ext cx="5754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vs production — coût mensuel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870448" y="2194560"/>
            <a:ext cx="5754319" cy="1024128"/>
          </a:xfrm>
          <a:prstGeom prst="roundRect">
            <a:avLst>
              <a:gd name="adj" fmla="val 8036"/>
            </a:avLst>
          </a:prstGeom>
          <a:solidFill>
            <a:srgbClr val="EAF4F0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053328" y="2194560"/>
            <a:ext cx="1920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7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~0 €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8065008" y="2194560"/>
            <a:ext cx="3376879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/ soutenance (tunnel local)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870448" y="3383280"/>
            <a:ext cx="5754319" cy="1024128"/>
          </a:xfrm>
          <a:prstGeom prst="roundRect">
            <a:avLst>
              <a:gd name="adj" fmla="val 8036"/>
            </a:avLst>
          </a:prstGeom>
          <a:solidFill>
            <a:srgbClr val="EAF4F0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53328" y="3383280"/>
            <a:ext cx="1920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7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~0-1 €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3383280"/>
            <a:ext cx="3376879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« éco » 24/7 (n8n Oracle Free)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70448" y="4572000"/>
            <a:ext cx="5754319" cy="1024128"/>
          </a:xfrm>
          <a:prstGeom prst="roundRect">
            <a:avLst>
              <a:gd name="adj" fmla="val 8036"/>
            </a:avLst>
          </a:prstGeom>
          <a:solidFill>
            <a:srgbClr val="D9F0EA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53328" y="4572000"/>
            <a:ext cx="1920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4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~30 €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065008" y="4572000"/>
            <a:ext cx="3376879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« sereine » — recommandée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2ECE8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6711696"/>
            <a:ext cx="8984494" cy="54864"/>
          </a:xfrm>
          <a:prstGeom prst="roundRect">
            <a:avLst>
              <a:gd name="adj" fmla="val 50000"/>
            </a:avLst>
          </a:prstGeom>
          <a:solidFill>
            <a:srgbClr val="0E7A66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57200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APRÈS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Ouverture vers une V2 &amp; passation livrée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300320" cy="429768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874520"/>
            <a:ext cx="475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Ouverture — vers une version 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59536" y="2377440"/>
            <a:ext cx="4715104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— héberger n8n 24/7 (chat indépendant du PC) + Supabase Pro (base toujours active).</a:t>
            </a:r>
            <a:endParaRPr lang="en-US" sz="12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distance &amp; péages enrichis par trajet, observabilité coût/tokens par devis, notifications internes (urgent, cas complexe).</a:t>
            </a:r>
            <a:endParaRPr lang="en-US" sz="12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canal WhatsApp officiel, A/B testing des relances, rôles fins (commercial / manager).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24448" y="1645920"/>
            <a:ext cx="5300320" cy="4297680"/>
          </a:xfrm>
          <a:prstGeom prst="roundRect">
            <a:avLst>
              <a:gd name="adj" fmla="val 1915"/>
            </a:avLst>
          </a:prstGeom>
          <a:solidFill>
            <a:srgbClr val="EAF4F0"/>
          </a:solidFill>
          <a:ln w="12700">
            <a:solidFill>
              <a:srgbClr val="D9F0E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98768" y="1874520"/>
            <a:ext cx="475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Passation déjà livrée (L3)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17056" y="2377440"/>
            <a:ext cx="47151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 repreneur : relancer le projet en local en 5 min.</a:t>
            </a:r>
            <a:endParaRPr lang="en-US" sz="12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 équipe NeoTravel : termes clés en clair + usage quotidien.</a:t>
            </a:r>
            <a:endParaRPr lang="en-US" sz="12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documentée : modifier pricing, emails, statuts, relances.</a:t>
            </a:r>
            <a:endParaRPr lang="en-US" sz="12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P1/P2/P3 + README, API Swagger (/docs), TypeDoc.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17056" y="5376672"/>
            <a:ext cx="438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C49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 solution peut vivre et évoluer sans ses créateurs.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2ECE8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" y="6711696"/>
            <a:ext cx="9675609" cy="54864"/>
          </a:xfrm>
          <a:prstGeom prst="roundRect">
            <a:avLst>
              <a:gd name="adj" fmla="val 50000"/>
            </a:avLst>
          </a:prstGeom>
          <a:solidFill>
            <a:srgbClr val="0E7A66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53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1463040"/>
            <a:ext cx="4023360" cy="4023360"/>
          </a:xfrm>
          <a:prstGeom prst="ellipse">
            <a:avLst/>
          </a:prstGeom>
          <a:solidFill>
            <a:srgbClr val="0E7A66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480560"/>
            <a:ext cx="3291840" cy="3291840"/>
          </a:xfrm>
          <a:prstGeom prst="ellipse">
            <a:avLst/>
          </a:prstGeom>
          <a:solidFill>
            <a:srgbClr val="13A884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2286000"/>
            <a:ext cx="146304" cy="146304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qu’on a prouvé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66928" y="3886200"/>
            <a:ext cx="384048" cy="384048"/>
          </a:xfrm>
          <a:prstGeom prst="ellipse">
            <a:avLst/>
          </a:prstGeom>
          <a:solidFill>
            <a:srgbClr val="13A88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5346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15568" y="3657600"/>
            <a:ext cx="466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Compris le métier et le besoin du client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24448" y="3886200"/>
            <a:ext cx="384048" cy="384048"/>
          </a:xfrm>
          <a:prstGeom prst="ellipse">
            <a:avLst/>
          </a:prstGeom>
          <a:solidFill>
            <a:srgbClr val="13A884"/>
          </a:solidFill>
          <a:ln/>
        </p:spPr>
      </p:sp>
      <p:sp>
        <p:nvSpPr>
          <p:cNvPr id="10" name="Text 8"/>
          <p:cNvSpPr/>
          <p:nvPr/>
        </p:nvSpPr>
        <p:spPr>
          <a:xfrm>
            <a:off x="6324448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5346"/>
                </a:solidFill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73088" y="3657600"/>
            <a:ext cx="466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Construit un flux complet de bout en bout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5029200"/>
            <a:ext cx="384048" cy="384048"/>
          </a:xfrm>
          <a:prstGeom prst="ellipse">
            <a:avLst/>
          </a:prstGeom>
          <a:solidFill>
            <a:srgbClr val="13A88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5346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15568" y="4800600"/>
            <a:ext cx="466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Sécurisé le pricing (déterministe, auditable)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324448" y="5029200"/>
            <a:ext cx="384048" cy="384048"/>
          </a:xfrm>
          <a:prstGeom prst="ellipse">
            <a:avLst/>
          </a:prstGeom>
          <a:solidFill>
            <a:srgbClr val="13A884"/>
          </a:solidFill>
          <a:ln/>
        </p:spPr>
      </p:sp>
      <p:sp>
        <p:nvSpPr>
          <p:cNvPr id="16" name="Text 14"/>
          <p:cNvSpPr/>
          <p:nvPr/>
        </p:nvSpPr>
        <p:spPr>
          <a:xfrm>
            <a:off x="6324448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5346"/>
                </a:solidFill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73088" y="4800600"/>
            <a:ext cx="466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Rendu la solution reprenable (passation)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9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— nous sommes à vous pour vos questions.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F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155C4B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" y="6711696"/>
            <a:ext cx="10366724" cy="54864"/>
          </a:xfrm>
          <a:prstGeom prst="roundRect">
            <a:avLst>
              <a:gd name="adj" fmla="val 50000"/>
            </a:avLst>
          </a:prstGeom>
          <a:solidFill>
            <a:srgbClr val="13A884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76072"/>
            <a:ext cx="109728" cy="109728"/>
          </a:xfrm>
          <a:prstGeom prst="ellipse">
            <a:avLst/>
          </a:prstGeom>
          <a:solidFill>
            <a:srgbClr val="C49A3C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57200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53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probables &amp; réponses prêtes</a:t>
            </a:r>
            <a:endParaRPr lang="en-US" sz="2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57839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3447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 du jury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Réponse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53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Pourquoi pas le LLM pour le prix 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Reproductibilité, auditabilité, zéro hallucination tarifaire. Le LLM ne fait qu’extraire.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53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C’est vraiment en ligne 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 : front + base + emails 24/7. Seul l’agent (chat) dépend du tunnel — assumé et documenté.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53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si Gemma sature (503) 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Retries automatiques. Le moteur de prix et la réponse ne dépendent pas du LLM.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53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Combien ça coûterait en vrai 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scénarios chiffrés : ~0 € en éco, ~30 €/mois en prod sereine (COUTS_ET_PROD.md).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53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 un autre dev reprend le projet 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 de passation (L3) : 5 min pour relancer en local, Swagger / TypeDoc pour le détail.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53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 changer un tarif 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pricing/matrices.js (+ pricing_config), relancer npm test, reporter dans n8n. Jamais via le LLM.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53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la RGPD 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Minimisation, données fictives ou minimales, domaine de démo sans envoi réel, accès cloisonné par utilisateur.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2ECE8"/>
          </a:solidFill>
          <a:ln/>
        </p:spPr>
      </p:sp>
      <p:sp>
        <p:nvSpPr>
          <p:cNvPr id="9" name="Shape 6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0E7A66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NeoTravel — InterstellLabs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Support de soutenance — NeoTravel</dc:title>
  <dc:subject>PptxGenJS Presentation</dc:subject>
  <dc:creator>Équipe NeoTravel</dc:creator>
  <cp:lastModifiedBy>Équipe NeoTravel</cp:lastModifiedBy>
  <cp:revision>1</cp:revision>
  <dcterms:created xsi:type="dcterms:W3CDTF">2026-06-30T11:00:23Z</dcterms:created>
  <dcterms:modified xsi:type="dcterms:W3CDTF">2026-06-30T11:00:23Z</dcterms:modified>
</cp:coreProperties>
</file>