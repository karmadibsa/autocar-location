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63F"/>
    <a:srgbClr val="AEC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2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7828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30 s. Se présenter et annoncer le plan : objectifs du client → contexte → As-Is/To-Be → solution → architecture → choix techniques → prévu vs réalisé → démo live → ouverture et passation → questions. Annoncer la règle d’or dès l’ouverture.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Poser le cadre : voici ce que le client attendait AVANT qu’on écrive la première ligne (périmètre, irritants, KPIs du dossier de cadrage L1). On y reviendra pour prouver qu’on répond au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Insister : on veut mieux exploiter le flux existant et libérer les commerciaux pour les tâches à forte valeur (conseil, négociation).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Montrer que chaque étape manuelle (rouge) a sa contrepartie automatisée et supervisée (vert). C’est la promesse : automatiser sans déshumaniser. Graphique repris du dossier de cadrage (5.1).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La règle d’or est le fil rouge de toute la soutenance. La solution automatise toute la chaîne sans déshumaniser : l’agent prépare, l’humain décide et engage. Le prix est calculé par le tool calculer_devis(), pas par le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 min. Schéma réel du dossier de cadrage (partie 9). Le front est le centre. Un seul appel LLM, réalisé avec Gemma 4 (le cadrage prévoyait gpt-4o-mini), le reste est déterministe.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2 min. Défendre chaque décision par ses critères (coût, qualité, latence, sorties structurées, compatibilité stack) et assumer la limite observée. Renvoyer à l’Argumentaire des choix (L1).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 min. Montrer rapidement npm test qui passe et /docs (Swagger) : toute l’API est documentée et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Assumer les écarts comme des décisions, pas des oublis. On a tenu le cap (chaîne complète) et certains arbitrages ont amélioré le résultat.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1,5 min. Boucler avec la slide Objectifs : chaque attente initiale a sa réponse concrète. C’est la preuve qu’on a traité le besoin du client, pas seulement construit une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Zakaria. Transition vers la démo live. Pré-requis : lancer lancer-n8n-tunnel.bat + reset-complet.sql. Filet de sécurité : un jeu de démo est déjà en base si le chat live échoue.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 — 3 min. Si Gemma renvoie un 503 ponctuel, renvoyer le message. Filet : devis de démo déjà en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Zakaria — 3,5 min. Différenciateur (bonus livré) : le prospect suit ses devis et son historique. Le dashboard prouve le pilotage par la donnée.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Assumer franchement : la cohérence du parcours prime sur la perfection d’un maillon. Le seul élément à changer pour la prod : héberger n8n. 4 scénarios chiffrés dans COUTS_ET_PROD.md.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Vincent — 1,5 min. Deux messages : (1) le projet a une suite claire (backlog priorisé), (2) il est déjà reprenable grâce à la doc de passation L3. Répond au critère « rendre la solution reprenable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B8EA-7862-87DF-F406-3AABD6FAD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75DB25-C811-15A6-39E3-D6C1717F3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EB0C20-954C-B973-2E69-06EC8286C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Axel — 30 s. Se présenter et annoncer le plan : objectifs du client → contexte → As-Is/To-Be → solution → architecture → choix techniques → prévu vs réalisé → démo live → ouverture et passation → questions. Annoncer la règle d’or dès l’ouverture.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6EC78-E845-F14E-EB81-1F8599DD4E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675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572000" cy="4572000"/>
          </a:xfrm>
          <a:prstGeom prst="ellipse">
            <a:avLst/>
          </a:prstGeom>
          <a:solidFill>
            <a:srgbClr val="8CC63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463040" y="4297680"/>
            <a:ext cx="3657600" cy="3657600"/>
          </a:xfrm>
          <a:prstGeom prst="ellipse">
            <a:avLst/>
          </a:prstGeom>
          <a:solidFill>
            <a:srgbClr val="6FA01E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199" y="219456"/>
            <a:ext cx="2244705" cy="1389888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20" y="363990"/>
            <a:ext cx="1842561" cy="1021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· AUTOMATISATION 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</a:t>
            </a:r>
            <a:r>
              <a:rPr lang="en-US" sz="52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</a:t>
            </a:r>
            <a:r>
              <a:rPr lang="en-US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</a:t>
            </a:r>
            <a:r>
              <a:rPr lang="en-US" sz="18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cycle commercial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0" y="47091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PROJET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0" y="4983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Axel MOMPER   ·   Vincent CONTER   ·   Zakaria TOUAMI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8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3A3A3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66928" y="6711696"/>
            <a:ext cx="650461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&amp; attentes initiales du client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91640"/>
            <a:ext cx="3533546" cy="4297680"/>
          </a:xfrm>
          <a:prstGeom prst="roundRect">
            <a:avLst>
              <a:gd name="adj" fmla="val 20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804672" y="1911096"/>
            <a:ext cx="420624" cy="420624"/>
          </a:xfrm>
          <a:prstGeom prst="ellipse">
            <a:avLst/>
          </a:prstGeom>
          <a:solidFill>
            <a:srgbClr val="6FA0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04672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53312" y="1911096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 — 10 fonctions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41248" y="2551176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Capter le lead (chat / formulaire)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Centraliser dans un CRM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la demande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infos manquantes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un devis (déterministe)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la proposition (PDF)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le devis au client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Relancer automatiquement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 pipeline commercial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Piloter via un dashboard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29074" y="1691640"/>
            <a:ext cx="3533546" cy="4297680"/>
          </a:xfrm>
          <a:prstGeom prst="roundRect">
            <a:avLst>
              <a:gd name="adj" fmla="val 20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66818" y="1911096"/>
            <a:ext cx="420624" cy="420624"/>
          </a:xfrm>
          <a:prstGeom prst="ellipse">
            <a:avLst/>
          </a:prstGeom>
          <a:solidFill>
            <a:srgbClr val="6FA0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566818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15458" y="1911096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irritants à résoudre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603394" y="2551176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payants jamais recontactés (manque à gagner)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de réponse et devis trop lents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Relances manuelles oubliées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manuelle, lente et faillible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sans visibilité sur l’activité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91221" y="1691640"/>
            <a:ext cx="3533546" cy="4297680"/>
          </a:xfrm>
          <a:prstGeom prst="roundRect">
            <a:avLst>
              <a:gd name="adj" fmla="val 20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8328965" y="1911096"/>
            <a:ext cx="420624" cy="420624"/>
          </a:xfrm>
          <a:prstGeom prst="ellipse">
            <a:avLst/>
          </a:prstGeom>
          <a:solidFill>
            <a:srgbClr val="6FA0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8328965" y="1911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877605" y="1911096"/>
            <a:ext cx="25459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KPIs visés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8365541" y="2551176"/>
            <a:ext cx="2984906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des leads traités → ~100 %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demande → devis : en minutes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relance oubliée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des demandes urgentes</a:t>
            </a:r>
            <a:endParaRPr lang="en-US" sz="1400" dirty="0"/>
          </a:p>
          <a:p>
            <a:pPr marL="177800" indent="-1778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IA par devis maîtrisé (bonus)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566928" y="6711696"/>
            <a:ext cx="1300922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E0AAEBB0-B31E-74B8-B927-37CFB913C45F}"/>
              </a:ext>
            </a:extLst>
          </p:cNvPr>
          <p:cNvSpPr/>
          <p:nvPr/>
        </p:nvSpPr>
        <p:spPr>
          <a:xfrm>
            <a:off x="11228832" y="420624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6D6AEDD8-D965-3832-EFC7-11C43BEDC88F}"/>
              </a:ext>
            </a:extLst>
          </p:cNvPr>
          <p:cNvSpPr/>
          <p:nvPr/>
        </p:nvSpPr>
        <p:spPr>
          <a:xfrm>
            <a:off x="11448288" y="420624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8EA6DDAF-9060-72F6-7B7C-C0384452B548}"/>
              </a:ext>
            </a:extLst>
          </p:cNvPr>
          <p:cNvSpPr/>
          <p:nvPr/>
        </p:nvSpPr>
        <p:spPr>
          <a:xfrm>
            <a:off x="11228832" y="64008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0FE7F305-4006-2FD0-FF2C-EA67C60E2E4E}"/>
              </a:ext>
            </a:extLst>
          </p:cNvPr>
          <p:cNvSpPr/>
          <p:nvPr/>
        </p:nvSpPr>
        <p:spPr>
          <a:xfrm>
            <a:off x="11448288" y="64008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8" name="Image 0" descr="C:\Users\vcont\Desktop\Autocar-Location-master\livrables\assets\logo-neotravel.png">
            <a:extLst>
              <a:ext uri="{FF2B5EF4-FFF2-40B4-BE49-F238E27FC236}">
                <a16:creationId xmlns:a16="http://schemas.microsoft.com/office/drawing/2014/main" id="{076350B9-6356-0930-3347-614364AC2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31F78CE6-9C5A-D14E-806E-56A0E5984759}"/>
              </a:ext>
            </a:extLst>
          </p:cNvPr>
          <p:cNvSpPr/>
          <p:nvPr/>
        </p:nvSpPr>
        <p:spPr>
          <a:xfrm>
            <a:off x="3743858" y="568756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80BBC590-EA1D-C510-145A-0E23991B833A}"/>
              </a:ext>
            </a:extLst>
          </p:cNvPr>
          <p:cNvSpPr/>
          <p:nvPr/>
        </p:nvSpPr>
        <p:spPr>
          <a:xfrm>
            <a:off x="7547152" y="568756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19E58477-9503-D590-1988-239933633AEA}"/>
              </a:ext>
            </a:extLst>
          </p:cNvPr>
          <p:cNvSpPr/>
          <p:nvPr/>
        </p:nvSpPr>
        <p:spPr>
          <a:xfrm>
            <a:off x="11292840" y="568756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9" y="402336"/>
            <a:ext cx="10553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NEOTRAVEL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: l’exploitation, pas l’acquisition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7373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566928" y="2350484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566928" y="3481753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/ jour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86968" y="404563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L’acquisition n’est pas le problème — le flux existant est sous-exploité, faute de capacité de traitement.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98848" y="1737360"/>
            <a:ext cx="7125919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754880" y="1956816"/>
            <a:ext cx="661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1 — des leads perdus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773168" y="2468880"/>
            <a:ext cx="6577279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Commerciaux commissionnés → priorité aux gros leads.</a:t>
            </a:r>
            <a:endParaRPr lang="en-US" sz="14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leads payants (Ads) ne sont jamais recontactés = manque à gagner direct.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98848" y="3886200"/>
            <a:ext cx="7125919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4754880" y="4105656"/>
            <a:ext cx="661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2 — acquisition bridée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773168" y="4617720"/>
            <a:ext cx="6577279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plus de leads = plus de charge, pas plus de CA.</a:t>
            </a:r>
            <a:endParaRPr lang="en-US" sz="14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S’ajoutent : tarif manuel lent, relances oubliées, direction sans visibilité.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566928" y="6711696"/>
            <a:ext cx="1951383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B781A1F8-FC51-2F5F-165A-32C3733D9FC2}"/>
              </a:ext>
            </a:extLst>
          </p:cNvPr>
          <p:cNvSpPr/>
          <p:nvPr/>
        </p:nvSpPr>
        <p:spPr>
          <a:xfrm>
            <a:off x="11249863" y="352044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4E40DEB6-EC31-B1A9-C425-295607E42491}"/>
              </a:ext>
            </a:extLst>
          </p:cNvPr>
          <p:cNvSpPr/>
          <p:nvPr/>
        </p:nvSpPr>
        <p:spPr>
          <a:xfrm>
            <a:off x="11469319" y="352044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890CE79E-51FF-CDEA-389B-AC1D8DE5924B}"/>
              </a:ext>
            </a:extLst>
          </p:cNvPr>
          <p:cNvSpPr/>
          <p:nvPr/>
        </p:nvSpPr>
        <p:spPr>
          <a:xfrm>
            <a:off x="11249863" y="57150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AC6662C3-FADF-9D8B-81F9-B5DA853D4C60}"/>
              </a:ext>
            </a:extLst>
          </p:cNvPr>
          <p:cNvSpPr/>
          <p:nvPr/>
        </p:nvSpPr>
        <p:spPr>
          <a:xfrm>
            <a:off x="11469319" y="57150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87D3A143-0C72-17EC-546D-739581FB4ABA}"/>
              </a:ext>
            </a:extLst>
          </p:cNvPr>
          <p:cNvSpPr/>
          <p:nvPr/>
        </p:nvSpPr>
        <p:spPr>
          <a:xfrm>
            <a:off x="11123756" y="2002536"/>
            <a:ext cx="285374" cy="274320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C1455503-BC5A-B8F1-124F-49D947E164CB}"/>
              </a:ext>
            </a:extLst>
          </p:cNvPr>
          <p:cNvSpPr/>
          <p:nvPr/>
        </p:nvSpPr>
        <p:spPr>
          <a:xfrm>
            <a:off x="11120744" y="4151736"/>
            <a:ext cx="284567" cy="273600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5091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MANUEL À L’AUTOMATISÉ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 As-Is / To-Be</a:t>
            </a:r>
            <a:endParaRPr lang="en-US" sz="2600" dirty="0"/>
          </a:p>
        </p:txBody>
      </p:sp>
      <p:pic>
        <p:nvPicPr>
          <p:cNvPr id="5" name="Image 1" descr="C:\Users\vcont\Desktop\Autocar-Location-master\livrables\support-de-soutenance\assets\as-is-to-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0148" y="928429"/>
            <a:ext cx="5405979" cy="552723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7" name="Text 3"/>
          <p:cNvSpPr/>
          <p:nvPr/>
        </p:nvSpPr>
        <p:spPr>
          <a:xfrm>
            <a:off x="363296" y="2024204"/>
            <a:ext cx="5134827" cy="333568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gauche, le processus actuel — manuel, lent et faillible (en rouge)</a:t>
            </a:r>
            <a:endParaRPr lang="en-US" sz="1400" dirty="0"/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droite, le processus cible — automatisé ET supervisé (en vert)</a:t>
            </a:r>
            <a:endParaRPr lang="en-US" sz="1400" dirty="0"/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étape sensible, un humain garde la main (HITL)</a:t>
            </a:r>
            <a:endParaRPr lang="en-US" sz="1400" dirty="0"/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du prix passe par le tool déterministe, jamais par le LLM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566928" y="6711696"/>
            <a:ext cx="2601845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7946936E-A2CF-7853-4CD0-B674E2C5C970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070F8316-7EDA-95D4-16BD-B6721C1B3B13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01D5071-D710-B5FC-FA81-C5E36BCAE7C7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1641A5A1-1612-D608-A9ED-D6230691C1BB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5465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 : un copilote, et une règle d’or</a:t>
            </a:r>
            <a:endParaRPr lang="en-US" sz="2600" dirty="0"/>
          </a:p>
        </p:txBody>
      </p:sp>
      <p:sp>
        <p:nvSpPr>
          <p:cNvPr id="29" name="Shape 26"/>
          <p:cNvSpPr/>
          <p:nvPr/>
        </p:nvSpPr>
        <p:spPr>
          <a:xfrm>
            <a:off x="694654" y="5267146"/>
            <a:ext cx="10555209" cy="1049920"/>
          </a:xfrm>
          <a:prstGeom prst="roundRect">
            <a:avLst>
              <a:gd name="adj" fmla="val 4211"/>
            </a:avLst>
          </a:prstGeom>
          <a:solidFill>
            <a:srgbClr val="1C1C1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912955" y="5201497"/>
            <a:ext cx="10253737" cy="44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 règle d’or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912955" y="5658697"/>
            <a:ext cx="10253737" cy="593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 comprend et oriente, mais le prix vient TOUJOURS du code déterministe — jamais du modèle de langage. Reproductible, auditable, zéro hallucination tarifaire. L’humain garde la main sur les cas sensibles.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566928" y="6711696"/>
            <a:ext cx="3252306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Shape 2">
            <a:extLst>
              <a:ext uri="{FF2B5EF4-FFF2-40B4-BE49-F238E27FC236}">
                <a16:creationId xmlns:a16="http://schemas.microsoft.com/office/drawing/2014/main" id="{52EB088C-BB48-694B-7B4F-73AEAF66046D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4F2DC762-7205-573E-46A2-B8A919704359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2A5C671D-25BC-00D1-E1D2-DF0F8093D938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5A063379-F599-E4EA-F941-C9654F625A09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B97B435-1106-BA73-CB6E-F4DB31E9F65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0" b="10412"/>
          <a:stretch>
            <a:fillRect/>
          </a:stretch>
        </p:blipFill>
        <p:spPr>
          <a:xfrm>
            <a:off x="1879096" y="1682496"/>
            <a:ext cx="7922211" cy="327817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41" name="Shape 2">
            <a:extLst>
              <a:ext uri="{FF2B5EF4-FFF2-40B4-BE49-F238E27FC236}">
                <a16:creationId xmlns:a16="http://schemas.microsoft.com/office/drawing/2014/main" id="{B47BA8F7-6FB6-6106-D2B0-FDD10F090CC2}"/>
              </a:ext>
            </a:extLst>
          </p:cNvPr>
          <p:cNvSpPr/>
          <p:nvPr/>
        </p:nvSpPr>
        <p:spPr>
          <a:xfrm>
            <a:off x="858239" y="5343230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5406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cible</a:t>
            </a:r>
            <a:endParaRPr lang="en-US" sz="2600" dirty="0"/>
          </a:p>
        </p:txBody>
      </p:sp>
      <p:pic>
        <p:nvPicPr>
          <p:cNvPr id="5" name="Image 1" descr="C:\Users\vcont\Desktop\Autocar-Location-master\livrables\support-de-soutenance\assets\architecture-ci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7" y="768096"/>
            <a:ext cx="4427103" cy="56939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7" name="Text 3"/>
          <p:cNvSpPr/>
          <p:nvPr/>
        </p:nvSpPr>
        <p:spPr>
          <a:xfrm>
            <a:off x="517335" y="1968304"/>
            <a:ext cx="5086296" cy="368268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0" tIns="0" rIns="0" bIns="0" rtlCol="0" anchor="t"/>
          <a:lstStyle/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front Next.js orchestre tout : interface + routes /api (logique métier)</a:t>
            </a:r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appel LLM, réalisé avec Gemma 4, pour l’extraction des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400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vient de calculer_devis()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déterministe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jamais le LLM</a:t>
            </a:r>
          </a:p>
          <a:p>
            <a:pPr marL="177800" indent="-177800" algn="just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: PostgreSQL + Authentification + sécurité par ligne. Relances via Resend</a:t>
            </a:r>
          </a:p>
        </p:txBody>
      </p:sp>
      <p:sp>
        <p:nvSpPr>
          <p:cNvPr id="9" name="Text 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566928" y="6711696"/>
            <a:ext cx="3902767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445B5F79-C5FC-3D17-F05E-C638277C6C51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49B30A56-11D7-09BE-EE5B-C5B73AE228F7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9FD7B27A-A83D-0084-6D86-0980D3D31AE9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11CB80B3-31C0-0E9B-ED13-120E49180B9F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9" y="402336"/>
            <a:ext cx="10528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DES CHOIX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: pas seulement quoi, mais pourquoi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756804"/>
            <a:ext cx="5391760" cy="1417320"/>
          </a:xfrm>
          <a:prstGeom prst="roundRect">
            <a:avLst>
              <a:gd name="adj" fmla="val 5161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822960" y="2012836"/>
            <a:ext cx="128016" cy="128016"/>
          </a:xfrm>
          <a:prstGeom prst="ellipse">
            <a:avLst/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1042416" y="1921396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42416" y="217742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9536" y="2579764"/>
            <a:ext cx="480654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place visuelle et rapide, relances intégrées, courbe d’apprentissage douce.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3008" y="1756804"/>
            <a:ext cx="539176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489040" y="2012836"/>
            <a:ext cx="128016" cy="128016"/>
          </a:xfrm>
          <a:prstGeom prst="ellipse">
            <a:avLst/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708496" y="1921396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IA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08496" y="217742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525616" y="2579764"/>
            <a:ext cx="480654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 (quota AI Studio), sorties JSON structurées fiables, latence basse, rôle d’assistance seul.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448444"/>
            <a:ext cx="5391760" cy="1417320"/>
          </a:xfrm>
          <a:prstGeom prst="roundRect">
            <a:avLst>
              <a:gd name="adj" fmla="val 5161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822960" y="3704476"/>
            <a:ext cx="128016" cy="128016"/>
          </a:xfrm>
          <a:prstGeom prst="ellipse">
            <a:avLst/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1042416" y="3613036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AUTHENTIFICATION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42416" y="386906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59536" y="4271404"/>
            <a:ext cx="480654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Base, Authentification et sécurité par ligne dans une seule stack, dashboard sur-mesure sans surcoût.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3448444"/>
            <a:ext cx="539176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6489040" y="3704476"/>
            <a:ext cx="128016" cy="128016"/>
          </a:xfrm>
          <a:prstGeom prst="ellipse">
            <a:avLst/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708496" y="3613036"/>
            <a:ext cx="466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LLM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08496" y="386906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(extraction)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525616" y="4271404"/>
            <a:ext cx="480654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 dans le timeout 30 s, moins d’erreurs 503, aucune fuite de raisonnement vers le client.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5140084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1C1C1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932688" y="5140084"/>
            <a:ext cx="1032631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observée —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ponctuels du LLM. Mitigée par des retries, et le prix comme la réponse ne dépendent pas du LLM : le devis sort quand même.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7"/>
          <p:cNvSpPr/>
          <p:nvPr/>
        </p:nvSpPr>
        <p:spPr>
          <a:xfrm>
            <a:off x="566928" y="6711696"/>
            <a:ext cx="4553228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Shape 2">
            <a:extLst>
              <a:ext uri="{FF2B5EF4-FFF2-40B4-BE49-F238E27FC236}">
                <a16:creationId xmlns:a16="http://schemas.microsoft.com/office/drawing/2014/main" id="{A74813C6-4D5B-9C9D-8602-C32736220BF3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BFB25B22-E69E-09B1-69AA-6493B37E3C66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56669767-0EB4-E1B9-1273-E4383D679B85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5">
            <a:extLst>
              <a:ext uri="{FF2B5EF4-FFF2-40B4-BE49-F238E27FC236}">
                <a16:creationId xmlns:a16="http://schemas.microsoft.com/office/drawing/2014/main" id="{AE361B77-38C4-D49F-316E-4C70D7C188C0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493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SYSTÈME SÛR, JUSTE ET AUDITABLE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 &amp; garde-fous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91640"/>
            <a:ext cx="534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22960" y="191109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déterministe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1248" y="2423160"/>
            <a:ext cx="4797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calculer_devis() testé, jamais le LLM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1ᵉʳ prix figé (distance estimée).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4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534760" y="191109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: types ET limites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53048" y="2423160"/>
            <a:ext cx="4797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passager, date incohérente, gros volume, </a:t>
            </a:r>
            <a:r>
              <a:rPr lang="en-US" sz="16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85 passagers → escalade, pas de prix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4069080"/>
            <a:ext cx="534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822960" y="428853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41248" y="4800600"/>
            <a:ext cx="4797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Minimisation, données fictives </a:t>
            </a:r>
            <a:r>
              <a:rPr lang="en-US" sz="16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minimales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de démo = aucun envoi </a:t>
            </a:r>
            <a:r>
              <a:rPr lang="en-US" sz="16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78728" y="4069080"/>
            <a:ext cx="53460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534760" y="4288536"/>
            <a:ext cx="483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&amp; HITL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53048" y="4800600"/>
            <a:ext cx="4797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ne négocie jamais le prix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cas hors cadre escaladé à un </a:t>
            </a:r>
            <a:r>
              <a:rPr lang="en-US" sz="16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humain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566928" y="6711696"/>
            <a:ext cx="5203689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439760A-346B-6371-709E-7E2CD7DF14C0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A7D94FB5-37F0-C557-7AC2-343EB9C10B10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1B2391CC-3114-6D81-9591-69F9CFCA3F10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2F5E47C7-D54F-32FD-6F41-19539441C71C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900D4553-0843-DF90-1421-225ADFA42185}"/>
              </a:ext>
            </a:extLst>
          </p:cNvPr>
          <p:cNvSpPr/>
          <p:nvPr/>
        </p:nvSpPr>
        <p:spPr>
          <a:xfrm>
            <a:off x="5353274" y="1911096"/>
            <a:ext cx="285374" cy="274320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8921360B-BB43-1169-6CA3-60EADAEBF144}"/>
              </a:ext>
            </a:extLst>
          </p:cNvPr>
          <p:cNvSpPr/>
          <p:nvPr/>
        </p:nvSpPr>
        <p:spPr>
          <a:xfrm>
            <a:off x="11083362" y="4315968"/>
            <a:ext cx="285374" cy="274320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DB23CA6F-C4D1-182C-C20D-118DE77B950E}"/>
              </a:ext>
            </a:extLst>
          </p:cNvPr>
          <p:cNvSpPr/>
          <p:nvPr/>
        </p:nvSpPr>
        <p:spPr>
          <a:xfrm>
            <a:off x="11087850" y="1865736"/>
            <a:ext cx="284567" cy="273600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26518797-7CCB-BA52-ACA2-466A28AB2485}"/>
              </a:ext>
            </a:extLst>
          </p:cNvPr>
          <p:cNvSpPr/>
          <p:nvPr/>
        </p:nvSpPr>
        <p:spPr>
          <a:xfrm>
            <a:off x="5353274" y="4288536"/>
            <a:ext cx="284567" cy="273600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4996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Prévu</a:t>
            </a: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2600" b="1" dirty="0" err="1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91640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41248" y="1691640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gpt-4o-mini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630168" y="16916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C63F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178808" y="1691640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(gratuit)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287768" y="1691640"/>
            <a:ext cx="410839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AI Studio, sorties JSON suffisantes.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569464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41248" y="2569464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estimée plus tard (P2)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630168" y="2569464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C63F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178808" y="2569464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estimée dès le MVP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87768" y="2569464"/>
            <a:ext cx="410839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gratuit sans clé, devis juste tout de suite.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3447288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841248" y="3447288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hébergé (cloud)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630168" y="344728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C63F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178808" y="3447288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local à URL fixe (0 €)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287768" y="3447288"/>
            <a:ext cx="410839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gratuit suffisant, voie de prod documentée.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25112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841248" y="432511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client = bonus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630168" y="4325112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C63F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178808" y="4325112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Livré (devis, conversations, messagerie)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287768" y="4325112"/>
            <a:ext cx="410839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valeur client, simple dans Supabase.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5202936"/>
            <a:ext cx="11057839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841248" y="5202936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simple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630168" y="520293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C63F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4178808" y="520293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riche (courbe, camembert, export)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287768" y="5202936"/>
            <a:ext cx="410839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facilitait un vrai pilotage.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0"/>
          <p:cNvSpPr/>
          <p:nvPr/>
        </p:nvSpPr>
        <p:spPr>
          <a:xfrm>
            <a:off x="566928" y="6711696"/>
            <a:ext cx="5854150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6FD54EAD-F4B2-DDFF-C91C-D4E114240ADB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">
            <a:extLst>
              <a:ext uri="{FF2B5EF4-FFF2-40B4-BE49-F238E27FC236}">
                <a16:creationId xmlns:a16="http://schemas.microsoft.com/office/drawing/2014/main" id="{5D869B42-96C7-2146-4137-9E2995EC0A52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52A2F85B-5465-09A9-2CDA-56A8A25CCE0C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ED4B056B-7A34-80E8-D1FF-AE5C861ADB1F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9" y="402336"/>
            <a:ext cx="10476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AU BESOIN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Attentes du client / </a:t>
            </a:r>
            <a:r>
              <a:rPr lang="en-US" sz="2600" b="1" dirty="0" err="1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</a:t>
            </a: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livrées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4592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41248" y="164592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Capter et centraliser chaque lead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727448" y="1645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230368" y="164592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création automatique de la fiche en base.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228600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41248" y="228600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et détecter les manquants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727448" y="228600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230368" y="228600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n8n, extraction des paramètres + questions ciblées.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92608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41248" y="292608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devis juste, en quelques secondes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727448" y="292608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230368" y="292608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calculer_devis() déterministe + distance estimée, figé.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56616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841248" y="356616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proposition professionnelle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727448" y="356616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230368" y="356616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généré + email avec boutons Accepter / Refuser.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20624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841248" y="420624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plus oublier les relances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727448" y="420624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230368" y="420624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Séquences automatiques J+2 / J+3 / J+7 (max 2) + relance manuelle.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4632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841248" y="484632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 la visibilité à la direction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727448" y="48463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230368" y="484632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 : KPIs, courbe, camembert, export PDF.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841248" y="548640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l’humain sur les cas sensibles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727448" y="548640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C63F"/>
                </a:solidFill>
              </a:rPr>
              <a:t>→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230368" y="5486400"/>
            <a:ext cx="616579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au-delà de 85 passagers + messagerie client ↔ conseiller.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Shape 33"/>
          <p:cNvSpPr/>
          <p:nvPr/>
        </p:nvSpPr>
        <p:spPr>
          <a:xfrm>
            <a:off x="566928" y="6711696"/>
            <a:ext cx="6504611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169C6CB9-95E4-3078-01D0-79C743E6B423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8CE569B0-E7AB-46A8-E2B4-C25ECA7BF6A3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82AECA88-6BB0-CB11-1CB4-F7266315C5F8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DA51B952-2F7D-4B36-164B-04FB6945CECE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1463040"/>
            <a:ext cx="4023360" cy="4023360"/>
          </a:xfrm>
          <a:prstGeom prst="ellipse">
            <a:avLst/>
          </a:prstGeom>
          <a:solidFill>
            <a:srgbClr val="8CC63F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280160" y="4480560"/>
            <a:ext cx="3291840" cy="3291840"/>
          </a:xfrm>
          <a:prstGeom prst="ellipse">
            <a:avLst/>
          </a:prstGeom>
          <a:solidFill>
            <a:srgbClr val="6FA01E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219456"/>
            <a:ext cx="1979234" cy="117043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16" y="369300"/>
            <a:ext cx="1570821" cy="870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2395728"/>
            <a:ext cx="457200" cy="109728"/>
          </a:xfrm>
          <a:prstGeom prst="rect">
            <a:avLst/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66928" y="2542032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fonctionne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66928" y="365760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 — le parcours complet, en conditions réelles.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43891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prospect  ·  cas complexe (HITL)  ·  espace client  ·  dashboard admin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8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8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3A3A3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566928" y="6711696"/>
            <a:ext cx="7155072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5172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LE CŒUR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prospect &amp; cas complexe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91640"/>
            <a:ext cx="53460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41248" y="191109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prospect → devis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41248" y="2404872"/>
            <a:ext cx="4797400" cy="777240"/>
          </a:xfrm>
          <a:prstGeom prst="roundRect">
            <a:avLst>
              <a:gd name="adj" fmla="val 9412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978408" y="2404872"/>
            <a:ext cx="452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1250" b="1" i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 → Annecy, 50 personnes, aller-retour le 12 juillet 2026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9536" y="3364992"/>
            <a:ext cx="4760824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 « Votre demande » se remplit en direct, l’agent demande l’email.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devis affichée + email reçu (PDF joint + boutons Accepter / Refuser).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vient du moteur, pas de l’IA, et la distance est estimée automatiquement.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78728" y="1691640"/>
            <a:ext cx="53460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553048" y="191109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→ escalade (HITL)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53048" y="2404872"/>
            <a:ext cx="4797400" cy="777240"/>
          </a:xfrm>
          <a:prstGeom prst="roundRect">
            <a:avLst>
              <a:gd name="adj" fmla="val 9412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6690208" y="2404872"/>
            <a:ext cx="452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1250" b="1" i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Marseille → Lille, 120 personnes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571336" y="3364992"/>
            <a:ext cx="4760824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85 passagers → message d’escalade, aucun devis automatique.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demande devient un « cas complexe » transmis à un humain avec le contexte.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« non » à l’automatisation totale est un gage de fiabilité, pas une limite.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566928" y="6711696"/>
            <a:ext cx="7805534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589AF0F6-6429-0898-293F-ABAC3DBCE3B6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30006C0D-EADE-15FC-8D9F-EADC16229E9F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25B11E6-CCD9-41DE-F84D-EB09A6CCA541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DF936E6D-9AE9-7008-BFAB-099EFA5931C9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AD708DA8-159A-14CE-7602-39FEC55B9B6F}"/>
              </a:ext>
            </a:extLst>
          </p:cNvPr>
          <p:cNvSpPr/>
          <p:nvPr/>
        </p:nvSpPr>
        <p:spPr>
          <a:xfrm>
            <a:off x="5375161" y="1911096"/>
            <a:ext cx="285374" cy="274320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6758B7F4-C584-71C0-CF02-0190B3257AF7}"/>
              </a:ext>
            </a:extLst>
          </p:cNvPr>
          <p:cNvSpPr/>
          <p:nvPr/>
        </p:nvSpPr>
        <p:spPr>
          <a:xfrm>
            <a:off x="11087850" y="1921320"/>
            <a:ext cx="284567" cy="273600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9" y="402336"/>
            <a:ext cx="10534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CLIENT &amp; PILOTAGE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client &amp; dashboard admin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691640"/>
            <a:ext cx="53460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41248" y="191109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client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9536" y="2404872"/>
            <a:ext cx="47608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Accepter » d’un email sans compte → inscription pré-remplie.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client : Mes devis (PDF, accepter / refuser avec motifs), Mes conversations, Mon compte.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Refuser » depuis l’email → page de motifs → relances stoppées.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460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553048" y="1911096"/>
            <a:ext cx="479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71336" y="2404872"/>
            <a:ext cx="47608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courbe d’évolution, camembert des refus, filtre par dates, export PDF.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→ devis sur-mesure (prix HT → TVA / TTC → envoi) → rejoint le pipeline.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HITL bidirectionnelle, bouton « Lancer les relances dues ».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566928" y="6711696"/>
            <a:ext cx="8455995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1D49BF5D-736A-AA93-C592-6FD971F08FE4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B764A007-39B9-D26F-AF3C-BF0C7BFF47D0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90E6DF6-323A-750F-3620-F6343EA6FCB1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3E845216-399F-2719-926B-D15893AAA489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9046E47-6FB7-8011-E501-CE975D7FD3CE}"/>
              </a:ext>
            </a:extLst>
          </p:cNvPr>
          <p:cNvSpPr/>
          <p:nvPr/>
        </p:nvSpPr>
        <p:spPr>
          <a:xfrm>
            <a:off x="11087850" y="1921320"/>
            <a:ext cx="284567" cy="273600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47CF2DF8-7521-27EB-F458-28F4C4B4B1EA}"/>
              </a:ext>
            </a:extLst>
          </p:cNvPr>
          <p:cNvSpPr/>
          <p:nvPr/>
        </p:nvSpPr>
        <p:spPr>
          <a:xfrm>
            <a:off x="5375161" y="1911096"/>
            <a:ext cx="285374" cy="274320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9" y="402336"/>
            <a:ext cx="10476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assume — et le passage en production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737360"/>
            <a:ext cx="502920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22960" y="1956816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&amp; arbitrages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1248" y="2468880"/>
            <a:ext cx="4480560" cy="317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en tunnel local = choix MVP (0 €) : dépend du PC allumé.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cohérent de bout en bout, pas une app de production (cas limites non exhaustifs).</a:t>
            </a:r>
            <a:endParaRPr lang="en-US" sz="1600" dirty="0"/>
          </a:p>
          <a:p>
            <a:pPr marL="177800" indent="-177800">
              <a:lnSpc>
                <a:spcPct val="2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Péages forfaitaires au MVP, paramétrables et affinés en P2.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70448" y="1737360"/>
            <a:ext cx="5754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vs production — coût mensuel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870448" y="2240280"/>
            <a:ext cx="5754319" cy="1024128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6053328" y="224028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~0 €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065008" y="224028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/ soutenance (tunnel local)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70448" y="3429000"/>
            <a:ext cx="5754319" cy="1024128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6053328" y="342900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~0-1 €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065008" y="342900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« éco » 24/7 (n8n Oracle Free)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870448" y="4617720"/>
            <a:ext cx="5754319" cy="1024128"/>
          </a:xfrm>
          <a:prstGeom prst="roundRect">
            <a:avLst>
              <a:gd name="adj" fmla="val 7143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053328" y="4617720"/>
            <a:ext cx="1920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~30 €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065008" y="4617720"/>
            <a:ext cx="337687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« sereine » — recommandée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566928" y="6711696"/>
            <a:ext cx="9106456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BA1ADC43-1363-CF41-CFEF-A88A6D392959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AEB9BC03-2245-CF1B-58E9-6E025BB59456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11CF629E-B0A0-CE08-53BE-0A09FA55F3E9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5">
            <a:extLst>
              <a:ext uri="{FF2B5EF4-FFF2-40B4-BE49-F238E27FC236}">
                <a16:creationId xmlns:a16="http://schemas.microsoft.com/office/drawing/2014/main" id="{6169EC71-523E-A548-CD5C-8B4A5C67C00A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cont\Desktop\Autocar-Location-master\livrables\assets\logo-neotra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0896"/>
            <a:ext cx="914400" cy="5068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402336"/>
            <a:ext cx="10575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89611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vers une V2 &amp; passation livrée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6928" y="1737360"/>
            <a:ext cx="530032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41248" y="1965960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 — vers une version 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" y="2468880"/>
            <a:ext cx="471510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héberger n8n 24/7 (chat indépendant du PC) + Supabase Pro (base toujours active).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distance &amp; péages enrichis par trajet, observabilité coût/tokens par devis, notifications internes (urgent, cas complexe).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canal WhatsApp officiel, A/B testing des relances, rôles fins (commercial / manager).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24448" y="1737360"/>
            <a:ext cx="5300320" cy="4069080"/>
          </a:xfrm>
          <a:prstGeom prst="roundRect">
            <a:avLst>
              <a:gd name="adj" fmla="val 1798"/>
            </a:avLst>
          </a:prstGeom>
          <a:solidFill>
            <a:srgbClr val="E7EBDE"/>
          </a:solidFill>
          <a:ln w="12700">
            <a:solidFill>
              <a:srgbClr val="E5E7EB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598768" y="1965960"/>
            <a:ext cx="475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Passation déjà livrée (L3)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17056" y="2468880"/>
            <a:ext cx="471510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repreneur : relancer le projet en local en 5 min.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équipe NeoTravel : termes clés en clair + usage quotidien.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documentée : modifier pricing, emails, statuts, relances.</a:t>
            </a:r>
            <a:endParaRPr lang="en-US" sz="1600" dirty="0"/>
          </a:p>
          <a:p>
            <a:pPr marL="177800" indent="-1778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P1/P2/P3 + README, API Swagger (/docs), TypeDoc.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98768" y="5824728"/>
            <a:ext cx="438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6FA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 solution peut vivre et évoluer sans ses créateurs.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437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NeoTravel · Soutenance · 01/07/2026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373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66928" y="6711696"/>
            <a:ext cx="11057839" cy="5486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66928" y="6711696"/>
            <a:ext cx="9756917" cy="5486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6E0A377-C6D9-6610-4EC2-0A3E23245F9E}"/>
              </a:ext>
            </a:extLst>
          </p:cNvPr>
          <p:cNvSpPr/>
          <p:nvPr/>
        </p:nvSpPr>
        <p:spPr>
          <a:xfrm>
            <a:off x="11249863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C63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594A3DA8-1591-45E0-4A19-3A031CC8A724}"/>
              </a:ext>
            </a:extLst>
          </p:cNvPr>
          <p:cNvSpPr/>
          <p:nvPr/>
        </p:nvSpPr>
        <p:spPr>
          <a:xfrm>
            <a:off x="11469319" y="372309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5F482A9-2F99-59FA-F3F3-48FF3F8734C3}"/>
              </a:ext>
            </a:extLst>
          </p:cNvPr>
          <p:cNvSpPr/>
          <p:nvPr/>
        </p:nvSpPr>
        <p:spPr>
          <a:xfrm>
            <a:off x="11249863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7EBD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1E83899-634E-FAC1-7BE7-7929285B8D35}"/>
              </a:ext>
            </a:extLst>
          </p:cNvPr>
          <p:cNvSpPr/>
          <p:nvPr/>
        </p:nvSpPr>
        <p:spPr>
          <a:xfrm>
            <a:off x="11469319" y="591765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1C1C1E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66176F-9922-DC35-DDD4-8C458056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AA18B9-6D23-2ACC-4393-35401AC47050}"/>
              </a:ext>
            </a:extLst>
          </p:cNvPr>
          <p:cNvSpPr/>
          <p:nvPr/>
        </p:nvSpPr>
        <p:spPr>
          <a:xfrm>
            <a:off x="8899855" y="-1645920"/>
            <a:ext cx="4572000" cy="4572000"/>
          </a:xfrm>
          <a:prstGeom prst="ellipse">
            <a:avLst/>
          </a:prstGeom>
          <a:solidFill>
            <a:srgbClr val="8CC63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8B3994-3FC9-E2C7-F32D-720DD89BA929}"/>
              </a:ext>
            </a:extLst>
          </p:cNvPr>
          <p:cNvSpPr/>
          <p:nvPr/>
        </p:nvSpPr>
        <p:spPr>
          <a:xfrm>
            <a:off x="-1463040" y="4297680"/>
            <a:ext cx="3657600" cy="3657600"/>
          </a:xfrm>
          <a:prstGeom prst="ellipse">
            <a:avLst/>
          </a:prstGeom>
          <a:solidFill>
            <a:srgbClr val="6FA01E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06E8FC8-12B8-3C2F-5454-0532C05D9600}"/>
              </a:ext>
            </a:extLst>
          </p:cNvPr>
          <p:cNvSpPr/>
          <p:nvPr/>
        </p:nvSpPr>
        <p:spPr>
          <a:xfrm>
            <a:off x="457199" y="219456"/>
            <a:ext cx="2244705" cy="1389888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:\Users\vcont\Desktop\Autocar-Location-master\livrables\assets\logo-neotravel.png">
            <a:extLst>
              <a:ext uri="{FF2B5EF4-FFF2-40B4-BE49-F238E27FC236}">
                <a16:creationId xmlns:a16="http://schemas.microsoft.com/office/drawing/2014/main" id="{74A3EDC7-120C-3072-1F88-E57FA02F0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20" y="363990"/>
            <a:ext cx="1842561" cy="102137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2A6F997-C5F2-AD11-866E-5AD1BB3B7287}"/>
              </a:ext>
            </a:extLst>
          </p:cNvPr>
          <p:cNvSpPr/>
          <p:nvPr/>
        </p:nvSpPr>
        <p:spPr>
          <a:xfrm>
            <a:off x="0" y="2286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· AUTOMATISATION IA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509CF0D-A4CD-2B6E-3B61-93958B33E692}"/>
              </a:ext>
            </a:extLst>
          </p:cNvPr>
          <p:cNvSpPr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</a:t>
            </a:r>
            <a:r>
              <a:rPr lang="en-US" sz="5200" b="1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5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4BAA1A2-05BB-46F0-0233-5A669473CBF9}"/>
              </a:ext>
            </a:extLst>
          </p:cNvPr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</a:t>
            </a:r>
            <a:r>
              <a:rPr lang="en-US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</a:t>
            </a:r>
            <a:r>
              <a:rPr lang="en-US" sz="18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cycle commercial</a:t>
            </a:r>
            <a:endParaRPr lang="en-US" sz="18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0B328B3-3FE2-0966-FD93-4ED4CA4FF098}"/>
              </a:ext>
            </a:extLst>
          </p:cNvPr>
          <p:cNvSpPr/>
          <p:nvPr/>
        </p:nvSpPr>
        <p:spPr>
          <a:xfrm>
            <a:off x="0" y="47091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8CC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PROJET</a:t>
            </a:r>
            <a:endParaRPr lang="en-US" sz="11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693654C-7917-2CE2-E8F9-1D671034DBB2}"/>
              </a:ext>
            </a:extLst>
          </p:cNvPr>
          <p:cNvSpPr/>
          <p:nvPr/>
        </p:nvSpPr>
        <p:spPr>
          <a:xfrm>
            <a:off x="0" y="4983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Axel MOMPER   ·   Vincent CONTER   ·   Zakaria TOUAMI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5952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2190</Words>
  <Application>Microsoft Office PowerPoint</Application>
  <PresentationFormat>Grand écran</PresentationFormat>
  <Paragraphs>250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autocar-location.com — NeoTravel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 de soutenance — NeoTravel</dc:title>
  <dc:subject>PptxGenJS Presentation</dc:subject>
  <dc:creator>Équipe NeoTravel</dc:creator>
  <cp:lastModifiedBy>Vincent Conter</cp:lastModifiedBy>
  <cp:revision>7</cp:revision>
  <dcterms:created xsi:type="dcterms:W3CDTF">2026-06-30T12:03:49Z</dcterms:created>
  <dcterms:modified xsi:type="dcterms:W3CDTF">2026-06-30T12:57:39Z</dcterms:modified>
</cp:coreProperties>
</file>