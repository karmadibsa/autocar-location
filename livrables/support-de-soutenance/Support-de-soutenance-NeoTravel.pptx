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30 s. Se présenter brièvement et annoncer le plan : objectifs du client → contexte → solution → choix techniques → prévu vs réalisé → démo live → ouverture &amp; passation → questions. Annoncer la règle d’or dès l’ouverture.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Poser le cadre : voici ce que le client attendait AVANT qu’on écrive la première ligne (périmètre, irritants, KPIs du dossier de cadrage L1). On y reviendra pour prouver qu’on répond au besoin (slide « attentes → réponses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Insister : on veut mieux exploiter le flux existant et libérer les commerciaux pour les tâches à forte valeur (conseil, négociation).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La règle d’or est le fil rouge de toute la soutenance. La solution automatise toute la chaîne sans déshumaniser : l’agent prépare, l’humain décide et engage.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 min. Montrer le schéma (DIAGRAMMES.md / docs/architecture.svg). Le front est le centre : il orchestre tout. Insister sur le « 1 seul appel LLM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2 min. Défendre chaque décision par ses critères (coût, qualité, latence, sorties structurées, compatibilité stack) et assumer la limite observée. Renvoyer à l’« Argumentaire des choix » (L1) pour le détail.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1 min. Montrer rapidement « npm test » qui passe et /docs (Swagger) : toute l’API est documentée et explorable.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1,5 min. Assumer les écarts comme des décisions, pas des oublis. Message : on a tenu le cap (chaîne complète) et certains arbitrages ont amélioré le résultat (distance réelle, bonus livrés).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Axel — 1,5 min. Boucler avec la slide 2 : chaque attente initiale a sa réponse concrète. C’est la preuve qu’on a traité le besoin du client, pas seulement construit une démo.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Zakaria. Transition vers la démo live. Pré-requis : lancer lancer-n8n-tunnel.bat + reset-complet.sql. Filet de sécurité : un jeu de démo est déjà en base si le chat live échoue.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Zakaria — 2 min. Si Gemma renvoie un 503 ponctuel, renvoyer le message. Garder le filet : devis de démo déjà en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Zakaria — 1 min. C’est un point fort : le système connaît ses limites et protège l’engagement commercial.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Zakaria — 1,5 min. Souligner le différenciateur (bonus livré) : le prospect suit ses devis et son historique.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Zakaria — 2 min. C’est la preuve du pilotage par la donnée : la direction voit tout en temps réel.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1,5 min. Assumer franchement : la cohérence du parcours prime sur la perfection d’un maillon. Le seul élément à changer pour la prod : héberger n8n. 4 scénarios chiffrés dans COUTS_ET_PROD.md.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Vincent — 1,5 min. Deux messages : (1) le projet a une suite claire (backlog priorisé), (2) il est déjà reprenable grâce à la doc de passation L3. Répond au critère « rendre la solution reprenable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Orateur : toute l’équipe — puis 10-15 min de Q&amp;R. Chaque membre reste disponible sur son périmètre (voir l’annexe : questions probables et réponses prêtes).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Annexe de secours pour le Q&amp;R : une réponse courte et défendable par question fréquente.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3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645920"/>
            <a:ext cx="4572000" cy="4572000"/>
          </a:xfrm>
          <a:prstGeom prst="ellipse">
            <a:avLst/>
          </a:prstGeom>
          <a:solidFill>
            <a:srgbClr val="0E7A66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97680"/>
            <a:ext cx="3657600" cy="3657600"/>
          </a:xfrm>
          <a:prstGeom prst="ellipse">
            <a:avLst/>
          </a:prstGeom>
          <a:solidFill>
            <a:srgbClr val="13A884">
              <a:alpha val="18000"/>
            </a:srgbClr>
          </a:solidFill>
          <a:ln/>
        </p:spPr>
      </p:sp>
      <p:pic>
        <p:nvPicPr>
          <p:cNvPr id="4" name="Image 0" descr="C:\Users\vcont\Desktop\Autocar-Location-master\livrables\assets\logo-neotra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1408" y="1051560"/>
            <a:ext cx="2468880" cy="1362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SOUTENANCE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31089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Automatisation du cycle commercial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— transport de groupe en autocar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5029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Axel MOMPER · Vincent CONTER · Zakaria TOUAMI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d’étude MBA1 — InterstellLabs · 1ᵉʳ juillet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POSÉ AVANT DE CODER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&amp; attentes initiales du client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33546" cy="4526280"/>
          </a:xfrm>
          <a:prstGeom prst="roundRect">
            <a:avLst>
              <a:gd name="adj" fmla="val 2329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47088"/>
            <a:ext cx="420624" cy="420624"/>
          </a:xfrm>
          <a:prstGeom prst="ellipse">
            <a:avLst/>
          </a:prstGeom>
          <a:solidFill>
            <a:srgbClr val="0E7A6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1847088"/>
            <a:ext cx="2545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périmètre — 10 fonctions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487168"/>
            <a:ext cx="298490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Capter le lead (chat / formulaire)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dans un CRM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 la demande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infos manquantes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un devis (déterministe)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la proposition (PDF)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le devis au client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automatiquement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 pipeline commercial</a:t>
            </a:r>
            <a:endParaRPr lang="en-US" sz="11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via un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9074" y="1627632"/>
            <a:ext cx="3533546" cy="4526280"/>
          </a:xfrm>
          <a:prstGeom prst="roundRect">
            <a:avLst>
              <a:gd name="adj" fmla="val 2329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6818" y="1847088"/>
            <a:ext cx="420624" cy="420624"/>
          </a:xfrm>
          <a:prstGeom prst="ellipse">
            <a:avLst/>
          </a:prstGeom>
          <a:solidFill>
            <a:srgbClr val="0E7A66"/>
          </a:solidFill>
          <a:ln/>
        </p:spPr>
      </p:sp>
      <p:sp>
        <p:nvSpPr>
          <p:cNvPr id="11" name="Text 9"/>
          <p:cNvSpPr/>
          <p:nvPr/>
        </p:nvSpPr>
        <p:spPr>
          <a:xfrm>
            <a:off x="456681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15458" y="1847088"/>
            <a:ext cx="2545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irritants à résoudre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03394" y="2487168"/>
            <a:ext cx="298490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payants jamais recontactés (manque à gagner)</a:t>
            </a:r>
            <a:endParaRPr lang="en-US" sz="11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Délais de réponse et devis trop lents</a:t>
            </a:r>
            <a:endParaRPr lang="en-US" sz="11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Relances manuelles oubliées</a:t>
            </a:r>
            <a:endParaRPr lang="en-US" sz="11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manuelle, lente et faillible</a:t>
            </a:r>
            <a:endParaRPr lang="en-US" sz="11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sans visibilité sur l’activité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1221" y="1627632"/>
            <a:ext cx="3533546" cy="4526280"/>
          </a:xfrm>
          <a:prstGeom prst="roundRect">
            <a:avLst>
              <a:gd name="adj" fmla="val 2329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8965" y="1847088"/>
            <a:ext cx="420624" cy="420624"/>
          </a:xfrm>
          <a:prstGeom prst="ellipse">
            <a:avLst/>
          </a:prstGeom>
          <a:solidFill>
            <a:srgbClr val="0E7A66"/>
          </a:solidFill>
          <a:ln/>
        </p:spPr>
      </p:sp>
      <p:sp>
        <p:nvSpPr>
          <p:cNvPr id="16" name="Text 14"/>
          <p:cNvSpPr/>
          <p:nvPr/>
        </p:nvSpPr>
        <p:spPr>
          <a:xfrm>
            <a:off x="8328965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77605" y="1847088"/>
            <a:ext cx="254599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KPIs visés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5541" y="2487168"/>
            <a:ext cx="298490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leads traités → ~100 %</a:t>
            </a:r>
            <a:endParaRPr lang="en-US" sz="11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demande → devis : en minutes</a:t>
            </a:r>
            <a:endParaRPr lang="en-US" sz="11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 devis → accepté</a:t>
            </a:r>
            <a:endParaRPr lang="en-US" sz="11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relance oubliée</a:t>
            </a:r>
            <a:endParaRPr lang="en-US" sz="11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des demandes urgentes</a:t>
            </a:r>
            <a:endParaRPr lang="en-US" sz="11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IA par devis maîtrisé (bonus)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 · 1,5 min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NEOTRAVEL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: l’exploitation, pas l’acquisition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657600" cy="4114800"/>
          </a:xfrm>
          <a:prstGeom prst="roundRect">
            <a:avLst>
              <a:gd name="adj" fmla="val 2250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011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jour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L’acquisition n’est pas le problème — le flux existant est sous-exploité, faute de capacité de traitement.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8848" y="1691640"/>
            <a:ext cx="7125919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911096"/>
            <a:ext cx="6613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1 — des leads perdus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73168" y="2423160"/>
            <a:ext cx="6577279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Commerciaux commissionnés → priorité aux gros leads.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leads payants (Ads) ne sont jamais recontactés = manque à gagner direct.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98848" y="3840480"/>
            <a:ext cx="7125919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4059936"/>
            <a:ext cx="6613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2 — acquisition bridée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73168" y="4572000"/>
            <a:ext cx="6577279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automatisation, plus de leads = plus de charge, pas plus de CA.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S’ajoutent : tarif manuel lent, relances oubliées, direction sans visibilité.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 · 1,5 min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RÉPONSE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: un copilote, et une règle d’or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955536" cy="1554480"/>
          </a:xfrm>
          <a:prstGeom prst="roundRect">
            <a:avLst>
              <a:gd name="adj" fmla="val 5294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096" y="2029968"/>
            <a:ext cx="457200" cy="457200"/>
          </a:xfrm>
          <a:prstGeom prst="ellipse">
            <a:avLst/>
          </a:prstGeom>
          <a:solidFill>
            <a:srgbClr val="0E7A66"/>
          </a:solidFill>
          <a:ln/>
        </p:spPr>
      </p:sp>
      <p:sp>
        <p:nvSpPr>
          <p:cNvPr id="6" name="Text 4"/>
          <p:cNvSpPr/>
          <p:nvPr/>
        </p:nvSpPr>
        <p:spPr>
          <a:xfrm>
            <a:off x="131609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578608"/>
            <a:ext cx="177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40752" y="24231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A884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42504" y="1828800"/>
            <a:ext cx="1955536" cy="1554480"/>
          </a:xfrm>
          <a:prstGeom prst="roundRect">
            <a:avLst>
              <a:gd name="adj" fmla="val 5294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1672" y="2029968"/>
            <a:ext cx="457200" cy="457200"/>
          </a:xfrm>
          <a:prstGeom prst="ellipse">
            <a:avLst/>
          </a:prstGeom>
          <a:solidFill>
            <a:srgbClr val="0E7A66"/>
          </a:solidFill>
          <a:ln/>
        </p:spPr>
      </p:sp>
      <p:sp>
        <p:nvSpPr>
          <p:cNvPr id="11" name="Text 9"/>
          <p:cNvSpPr/>
          <p:nvPr/>
        </p:nvSpPr>
        <p:spPr>
          <a:xfrm>
            <a:off x="359167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33944" y="2578608"/>
            <a:ext cx="177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 IA)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16328" y="24231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A884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18080" y="1828800"/>
            <a:ext cx="1955536" cy="1554480"/>
          </a:xfrm>
          <a:prstGeom prst="roundRect">
            <a:avLst>
              <a:gd name="adj" fmla="val 5294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67248" y="2029968"/>
            <a:ext cx="457200" cy="457200"/>
          </a:xfrm>
          <a:prstGeom prst="ellipse">
            <a:avLst/>
          </a:prstGeom>
          <a:solidFill>
            <a:srgbClr val="0E7A66"/>
          </a:solidFill>
          <a:ln/>
        </p:spPr>
      </p:sp>
      <p:sp>
        <p:nvSpPr>
          <p:cNvPr id="16" name="Text 14"/>
          <p:cNvSpPr/>
          <p:nvPr/>
        </p:nvSpPr>
        <p:spPr>
          <a:xfrm>
            <a:off x="586724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09520" y="2578608"/>
            <a:ext cx="177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91904" y="24231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A884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93656" y="1828800"/>
            <a:ext cx="1955536" cy="1554480"/>
          </a:xfrm>
          <a:prstGeom prst="roundRect">
            <a:avLst>
              <a:gd name="adj" fmla="val 5294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42823" y="2029968"/>
            <a:ext cx="457200" cy="457200"/>
          </a:xfrm>
          <a:prstGeom prst="ellipse">
            <a:avLst/>
          </a:prstGeom>
          <a:solidFill>
            <a:srgbClr val="0E7A66"/>
          </a:solidFill>
          <a:ln/>
        </p:spPr>
      </p:sp>
      <p:sp>
        <p:nvSpPr>
          <p:cNvPr id="21" name="Text 19"/>
          <p:cNvSpPr/>
          <p:nvPr/>
        </p:nvSpPr>
        <p:spPr>
          <a:xfrm>
            <a:off x="8142823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85096" y="2578608"/>
            <a:ext cx="177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PDF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relances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67479" y="2423160"/>
            <a:ext cx="283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3A884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69231" y="1828800"/>
            <a:ext cx="1955536" cy="1554480"/>
          </a:xfrm>
          <a:prstGeom prst="roundRect">
            <a:avLst>
              <a:gd name="adj" fmla="val 5294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18399" y="2029968"/>
            <a:ext cx="457200" cy="457200"/>
          </a:xfrm>
          <a:prstGeom prst="ellipse">
            <a:avLst/>
          </a:prstGeom>
          <a:solidFill>
            <a:srgbClr val="0E7A66"/>
          </a:solidFill>
          <a:ln/>
        </p:spPr>
      </p:sp>
      <p:sp>
        <p:nvSpPr>
          <p:cNvPr id="26" name="Text 24"/>
          <p:cNvSpPr/>
          <p:nvPr/>
        </p:nvSpPr>
        <p:spPr>
          <a:xfrm>
            <a:off x="10418399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60671" y="2578608"/>
            <a:ext cx="177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pilotage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3886200"/>
            <a:ext cx="11057839" cy="1737360"/>
          </a:xfrm>
          <a:prstGeom prst="roundRect">
            <a:avLst>
              <a:gd name="adj" fmla="val 4737"/>
            </a:avLst>
          </a:prstGeom>
          <a:solidFill>
            <a:srgbClr val="0A5346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32688" y="4114800"/>
            <a:ext cx="103263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La règle d’or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2688" y="4572000"/>
            <a:ext cx="103263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comprend et oriente, mais le prix vient TOUJOURS du code déterministe ( calculer_devis() ) — jamais du modèle de langage. Reproductible, auditable, zéro hallucination tarifaire. L’humain garde la main sur les cas sensibles (HITL).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 · 1,5 min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Option A hybride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852928" y="1645920"/>
            <a:ext cx="6485839" cy="868680"/>
          </a:xfrm>
          <a:prstGeom prst="roundRect">
            <a:avLst>
              <a:gd name="adj" fmla="val 9474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852928" y="1645920"/>
            <a:ext cx="6485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Next.js (Netlify) — UI + toute la logique métier (routes /api)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063240"/>
            <a:ext cx="199211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32461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n8n + Gemma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3867912"/>
            <a:ext cx="177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— 1 appel LLM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3360" y="3063240"/>
            <a:ext cx="199211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3088" y="32461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calculer_devis()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43088" y="3867912"/>
            <a:ext cx="177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déterministe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99792" y="3063240"/>
            <a:ext cx="199211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09520" y="32461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09520" y="3867912"/>
            <a:ext cx="177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Auth + RLS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66224" y="3063240"/>
            <a:ext cx="199211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75952" y="32461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75952" y="3867912"/>
            <a:ext cx="177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routière réelle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32655" y="3063240"/>
            <a:ext cx="199211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42383" y="32461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42383" y="3867912"/>
            <a:ext cx="1772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(devis, relances)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892040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D9F0EA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6968" y="4892040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appel LLM (extraction).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nœud Code calcule le prix ET rédige la réponse → rapide (timeout 30 s), fiable (moins de 503), pas de fuite de raisonnement.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 · 1 min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DES CHOIX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techniques : pas seulement quoi, mais pourquoi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630295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Critères &amp; pourquoi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(Option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en place visuelle et rapide, relances intégrées, courbe d’apprentissage douce — vs Vercel AI SDK.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(gemma-4-31b-it)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: gratuit (quota AI Studio). Sorties JSON structurées fiables. Latence basse. Rôle d’assistance seul.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&amp; 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(PostgreSQL)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+ Auth + RLS dans une seule stack → dashboard custom sans surcoût, sécurité par ligne — vs Airtable.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Appels 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seul (extraction)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Tient dans le timeout 30 s, moins d’erreurs 503, aucune fuite de raisonnement vers le client.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observée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 ponctuels du 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Mitigée : retries + prix et réponse indépendants du LLM → le devis sort même si le modèle hésite.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2 min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SÛR, JUSTE ET AUDITABLE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 &amp; garde-fous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6040" cy="21259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65376"/>
            <a:ext cx="483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déterministe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479740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calculer_devis() testé ; jamais le LLM.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1ᵉʳ prix figé (distance réelle OSRM).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645920"/>
            <a:ext cx="5346040" cy="21259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4760" y="1865376"/>
            <a:ext cx="483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: types ET limites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53048" y="2377440"/>
            <a:ext cx="479740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passager, date incohérente, gros volume…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 passagers → escalade, pas de prix.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046220"/>
            <a:ext cx="5346040" cy="21259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265676"/>
            <a:ext cx="483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" y="4777740"/>
            <a:ext cx="479740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Minimisation, données fictives/minimales.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de démo = aucun envoi réel.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8728" y="4046220"/>
            <a:ext cx="5346040" cy="21259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4760" y="4265676"/>
            <a:ext cx="483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&amp; HITL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53048" y="4777740"/>
            <a:ext cx="4797400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ne négocie jamais le prix.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cas hors cadre escaladé à un humain.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1 min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Prévu (L1) vs réalisé (L2/L3)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7839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00400"/>
                <a:gridCol w="483991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Prévu — dossier de cadrage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Réalisé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Raison de l’écart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gpt-4o-mini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(gratuit)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AI Studio, sorties JSON suffisantes ; le LLM ne fait qu’extraire.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estimée (API en P2)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routière réelle (OSRM) dès le MVP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gratuit, sans clé → devis plus juste tout de suite.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hébergé (cloud)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Tunnel local à URL fixe (0 €)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gratuit et suffisant pour la démo ; voie de prod documentée.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Espace client = bonus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Livré : suivi devis + conversations + messagerie HITL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valeur client, faisable simplement dans Supabase.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simple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riche : courbe, camembert, export PDF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facilitait un vrai pilotage par la donnée.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1,5 min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RÉPOND AU BESOIN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Attentes du client → réponses livrées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7839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303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Attente du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apportée par la 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Capter et centraliser chaque lead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+ création automatique de la fiche (clients / demandes) en base.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Qualifier et détecter les manquants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n8n : extraction des paramètres + questions ciblées avant devis.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devis juste, en quelques secondes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calculer_devis() déterministe + distance routière réelle, figé.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proposition professionnelle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généré + email avec boutons Accepter / Refuser.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plus oublier les relances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Séquences automatiques J+2 / J+3 / J+7 (max 2) + relance manuelle.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Donner de la visibilité à la direction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/admin : KPIs, courbe, camembert des refus, export PDF.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Garder l’humain sur les cas sensibles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Escalade HITL (&gt; 85 pax) + messagerie bidirectionnelle client ↔ conseiller.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 · 1,5 min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53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0E7A6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13A88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46888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fonctionne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— le parcours complet, en conditions réelles.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4297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prospect  ·  cas complexe (HITL)  ·  espace client  ·  dashboard 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Zakaria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LE CŒUR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prospect → devis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D9F0EA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691640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pPr indent="0" marL="0">
              <a:buNone/>
            </a:pPr>
            <a:r>
              <a:rPr lang="en-US" sz="1400" b="1" i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 → Annecy, 50 personnes, aller-retour le 12 juillet 2026.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788920"/>
            <a:ext cx="11057839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3063240"/>
            <a:ext cx="1032631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 « Votre demande » se remplit en direct ; l’agent demande l’email.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devis affichée + email reçu (PDF joint + boutons Accepter / Refuser).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clé : le prix vient du moteur, pas de l’IA ; la distance est la vraie distance routière.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Zakaria · 2 min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SAVOIR DIRE NON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complexe → escalade humaine (HITL)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868680"/>
          </a:xfrm>
          <a:prstGeom prst="roundRect">
            <a:avLst>
              <a:gd name="adj" fmla="val 9474"/>
            </a:avLst>
          </a:prstGeom>
          <a:solidFill>
            <a:srgbClr val="D9F0EA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691640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pPr indent="0" marL="0">
              <a:buNone/>
            </a:pPr>
            <a:r>
              <a:rPr lang="en-US" sz="1400" b="1" i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Marseille → Lille, 120 personnes.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788920"/>
            <a:ext cx="11057839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3063240"/>
            <a:ext cx="1032631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85 passagers → message d’escalade, aucun devis automatique.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devient un « cas complexe » transmis à un humain avec tout le contexte.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que dire « non » à l’automatisation totale est un gage de fiabilité, pas une limite.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Zakaria · 1 min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CÔTÉ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l’email à l’espace client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65960"/>
            <a:ext cx="10326319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Accepter » d’un email sans compte → inscription pré-remplie.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client : Mes devis (PDF, accepter/refuser avec motifs), Mes conversations, Mon compte.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Refuser » depuis l’email → page de motifs → relances stoppées automatiquement.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Zakaria · 1,5 min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— PILOTAGE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admin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965960"/>
            <a:ext cx="10326319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courbe d’évolution, camembert des motifs de refus, filtre par dates, export PDF.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complexe → devis sur-mesure (prix HT → aperçu TVA/TTC → envoi) → rejoint le pipeline.</a:t>
            </a:r>
            <a:endParaRPr lang="en-US" sz="14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HITL bidirectionnelle ; bouton « Lancer les relances dues ».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Zakaria · 2 min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qu’on assume — et le passage en production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0292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11096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arbitrages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2423160"/>
            <a:ext cx="448056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en tunnel local = choix MVP (0 €) : dépend du PC allumé.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cohérent de bout en bout, pas une app de production (cas limites non exhaustifs).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Péages forfaitaires au MVP (paramétrables, affinés en P2).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70448" y="1691640"/>
            <a:ext cx="57543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vs production — coût mensuel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870448" y="2194560"/>
            <a:ext cx="5754319" cy="1024128"/>
          </a:xfrm>
          <a:prstGeom prst="roundRect">
            <a:avLst>
              <a:gd name="adj" fmla="val 8036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53328" y="2194560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~0 €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65008" y="2194560"/>
            <a:ext cx="337687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/ soutenance (tunnel local)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70448" y="3383280"/>
            <a:ext cx="5754319" cy="1024128"/>
          </a:xfrm>
          <a:prstGeom prst="roundRect">
            <a:avLst>
              <a:gd name="adj" fmla="val 8036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53328" y="3383280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~0-1 €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65008" y="3383280"/>
            <a:ext cx="337687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« éco » 24/7 (n8n Oracle Free)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70448" y="4572000"/>
            <a:ext cx="5754319" cy="1024128"/>
          </a:xfrm>
          <a:prstGeom prst="roundRect">
            <a:avLst>
              <a:gd name="adj" fmla="val 8036"/>
            </a:avLst>
          </a:prstGeom>
          <a:solidFill>
            <a:srgbClr val="D9F0EA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53328" y="4572000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~30 €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65008" y="4572000"/>
            <a:ext cx="337687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« sereine » — recommandée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1,5 min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Ouverture vers une V2 &amp; passation livrée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0032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745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— vers une version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9536" y="2377440"/>
            <a:ext cx="471510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héberger n8n 24/7 (chat indépendant du PC) + Supabase Pro (base toujours active).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distance &amp; péages enrichis par trajet ; observabilité coût/tokens par devis ; notifications internes (urgent, cas complexe).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canal WhatsApp officiel ; A/B testing des relances ; rôles fins (commercial / manager).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645920"/>
            <a:ext cx="5300320" cy="4526280"/>
          </a:xfrm>
          <a:prstGeom prst="roundRect">
            <a:avLst>
              <a:gd name="adj" fmla="val 1818"/>
            </a:avLst>
          </a:prstGeom>
          <a:solidFill>
            <a:srgbClr val="EAF4F0"/>
          </a:solidFill>
          <a:ln w="12700">
            <a:solidFill>
              <a:srgbClr val="D9F0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98768" y="1874520"/>
            <a:ext cx="475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Passation déjà livrée (L3)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7056" y="2377440"/>
            <a:ext cx="471510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repreneur : relancer le projet en local en 5 min.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équipe NeoTravel : termes clés expliqués en clair + usage quotidien.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documentée : modifier pricing, emails, statuts, relances.</a:t>
            </a:r>
            <a:endParaRPr lang="en-US" sz="1200" dirty="0"/>
          </a:p>
          <a:p>
            <a:pPr marL="177800" indent="-1778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P1/P2/P3 + README, API Swagger (/docs), TypeDoc.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7056" y="5532120"/>
            <a:ext cx="438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solution peut vivre et évoluer sans ses créateurs.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1,5 min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53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solidFill>
            <a:srgbClr val="0E7A6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480560"/>
            <a:ext cx="3291840" cy="3291840"/>
          </a:xfrm>
          <a:prstGeom prst="ellipse">
            <a:avLst/>
          </a:prstGeom>
          <a:solidFill>
            <a:srgbClr val="13A884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46888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qu’on a prouvé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66928" y="3886200"/>
            <a:ext cx="384048" cy="384048"/>
          </a:xfrm>
          <a:prstGeom prst="ellipse">
            <a:avLst/>
          </a:prstGeom>
          <a:solidFill>
            <a:srgbClr val="13A88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346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3657600"/>
            <a:ext cx="466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Compris le métier et le besoin du client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3886200"/>
            <a:ext cx="384048" cy="384048"/>
          </a:xfrm>
          <a:prstGeom prst="ellipse">
            <a:avLst/>
          </a:prstGeom>
          <a:solidFill>
            <a:srgbClr val="13A884"/>
          </a:solidFill>
          <a:ln/>
        </p:spPr>
      </p:sp>
      <p:sp>
        <p:nvSpPr>
          <p:cNvPr id="9" name="Text 7"/>
          <p:cNvSpPr/>
          <p:nvPr/>
        </p:nvSpPr>
        <p:spPr>
          <a:xfrm>
            <a:off x="632444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346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73088" y="3657600"/>
            <a:ext cx="466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un flux complet de bout en bout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5029200"/>
            <a:ext cx="384048" cy="384048"/>
          </a:xfrm>
          <a:prstGeom prst="ellipse">
            <a:avLst/>
          </a:prstGeom>
          <a:solidFill>
            <a:srgbClr val="13A88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346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4800600"/>
            <a:ext cx="466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 le pricing (déterministe, auditable)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4448" y="5029200"/>
            <a:ext cx="384048" cy="384048"/>
          </a:xfrm>
          <a:prstGeom prst="ellipse">
            <a:avLst/>
          </a:prstGeom>
          <a:solidFill>
            <a:srgbClr val="13A884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8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346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73088" y="4800600"/>
            <a:ext cx="466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la solution reprenable (passation)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58978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nous sommes à vous pour vos questions.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84287" y="384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l’équipe + Q&amp;R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7400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53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probables &amp; réponses prêtes</a:t>
            </a:r>
            <a:endParaRPr lang="en-US" sz="2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7839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3447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du jury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 pas le LLM pour le prix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Reproductibilité, auditabilité, zéro hallucination tarifaire ; le LLM ne fait qu’extraire.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C’est vraiment en ligne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: front + base + emails 24/7 ; seul l’agent (chat) dépend du tunnel — assumé et documenté.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si Gemma sature (503)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 automatiques ; le moteur de prix et la réponse ne dépendent pas du LLM.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Combien ça coûterait en vrai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scénarios chiffrés : ~0 € en éco, ~30 €/mois en prod sereine (COUTS_ET_PROD.md).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un autre dev reprend le projet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de passation (L3) : 5 min pour relancer en local ; Swagger / TypeDoc pour le détail.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changer un tarif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pricing/matrices.js (+ pricing_config), relancer npm test, reporter dans n8n. Jamais via le LLM.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53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la RGPD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Minimisation, données fictives/minimales, domaine de démo sans envoi réel, RLS par utilisateur.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NeoTravel · Soutenance · 01/07/2026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84687" y="6455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NeoTravel — InterstellLabs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de soutenance — NeoTravel</dc:title>
  <dc:subject>PptxGenJS Presentation</dc:subject>
  <dc:creator>Équipe NeoTravel</dc:creator>
  <cp:lastModifiedBy>Équipe NeoTravel</cp:lastModifiedBy>
  <cp:revision>1</cp:revision>
  <dcterms:created xsi:type="dcterms:W3CDTF">2026-06-30T08:44:59Z</dcterms:created>
  <dcterms:modified xsi:type="dcterms:W3CDTF">2026-06-30T08:44:59Z</dcterms:modified>
</cp:coreProperties>
</file>